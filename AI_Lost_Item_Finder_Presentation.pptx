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0f03f63-c19e-574f-6fa8-2aef41b14c4a}">
          <p14:sldIdLst>
            <p14:sldId id="256"/>
            <p14:sldId id="257"/>
            <p14:sldId id="258"/>
          </p14:sldIdLst>
        </p14:section>
        <p14:section name="Design" id="{146e0b39-4ca1-f83e-5fe5-bfad9bfe1f8f}">
          <p14:sldIdLst>
            <p14:sldId id="259"/>
            <p14:sldId id="260"/>
          </p14:sldIdLst>
        </p14:section>
        <p14:section name="Results" id="{c8790bea-afc9-1833-3108-f100e835055c}">
          <p14:sldIdLst>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F3A"/>
                </a:solidFill>
                <a:latin typeface="+mn-lt"/>
              </a:defRPr>
            </a:pPr>
            <a:r>
              <a:rPr sz="1300" b="0" i="0" u="none" strike="noStrike">
                <a:solidFill>
                  <a:srgbClr val="0B1F3A"/>
                </a:solidFill>
                <a:latin typeface="+mn-lt"/>
              </a:rPr>
              <a:t>Questions asked per scenario</a:t>
            </a:r>
          </a:p>
        </c:rich>
      </c:tx>
      <c:layout/>
      <c:overlay val="0"/>
    </c:title>
    <c:autoTitleDeleted val="0"/>
    <c:plotArea>
      <c:layout/>
      <c:barChart>
        <c:barDir val="col"/>
        <c:grouping val="clustered"/>
        <c:varyColors val="0"/>
        <c:ser>
          <c:idx val="0"/>
          <c:order val="0"/>
          <c:tx>
            <c:strRef>
              <c:f>Sheet1!$B$1</c:f>
              <c:strCache>
                <c:ptCount val="1"/>
                <c:pt idx="0">
                  <c:v>Backward chaining</c:v>
                </c:pt>
              </c:strCache>
            </c:strRef>
          </c:tx>
          <c:spPr>
            <a:solidFill>
              <a:srgbClr val="14B8A6"/>
            </a:solidFill>
            <a:effectLst/>
          </c:spPr>
          <c:invertIfNegative val="0"/>
          <c:dLbls>
            <c:numFmt formatCode="#,##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cat>
            <c:multiLvlStrRef>
              <c:f>Sheet1!$A$2:$A$7</c:f>
              <c:multiLvlStrCache>
                <c:ptCount val="6"/>
                <c:lvl>
                  <c:pt idx="0">
                    <c:v>S1</c:v>
                  </c:pt>
                  <c:pt idx="1">
                    <c:v>S2</c:v>
                  </c:pt>
                  <c:pt idx="2">
                    <c:v>S3</c:v>
                  </c:pt>
                  <c:pt idx="3">
                    <c:v>S4</c:v>
                  </c:pt>
                  <c:pt idx="4">
                    <c:v>S5</c:v>
                  </c:pt>
                  <c:pt idx="5">
                    <c:v>S6</c:v>
                  </c:pt>
                </c:lvl>
              </c:multiLvlStrCache>
            </c:multiLvlStrRef>
          </c:cat>
          <c:val>
            <c:numRef>
              <c:f>Sheet1!$B$2:$B$7</c:f>
              <c:numCache>
                <c:formatCode>General</c:formatCode>
                <c:ptCount val="6"/>
                <c:pt idx="0">
                  <c:v>5</c:v>
                </c:pt>
                <c:pt idx="1">
                  <c:v>6</c:v>
                </c:pt>
                <c:pt idx="2">
                  <c:v>2</c:v>
                </c:pt>
                <c:pt idx="3">
                  <c:v>5</c:v>
                </c:pt>
                <c:pt idx="4">
                  <c:v>4</c:v>
                </c:pt>
                <c:pt idx="5">
                  <c:v>6</c:v>
                </c:pt>
              </c:numCache>
            </c:numRef>
          </c:val>
        </c:ser>
        <c:ser>
          <c:idx val="1"/>
          <c:order val="1"/>
          <c:tx>
            <c:strRef>
              <c:f>Sheet1!$C$1</c:f>
              <c:strCache>
                <c:ptCount val="1"/>
                <c:pt idx="0">
                  <c:v>Fixed questionnaire</c:v>
                </c:pt>
              </c:strCache>
            </c:strRef>
          </c:tx>
          <c:spPr>
            <a:solidFill>
              <a:srgbClr val="94A3B8"/>
            </a:solidFill>
            <a:effectLst/>
          </c:spPr>
          <c:invertIfNegative val="0"/>
          <c:dLbls>
            <c:numFmt formatCode="#,##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cat>
            <c:multiLvlStrRef>
              <c:f>Sheet1!$A$2:$A$7</c:f>
              <c:multiLvlStrCache>
                <c:ptCount val="6"/>
                <c:lvl>
                  <c:pt idx="0">
                    <c:v>S1</c:v>
                  </c:pt>
                  <c:pt idx="1">
                    <c:v>S2</c:v>
                  </c:pt>
                  <c:pt idx="2">
                    <c:v>S3</c:v>
                  </c:pt>
                  <c:pt idx="3">
                    <c:v>S4</c:v>
                  </c:pt>
                  <c:pt idx="4">
                    <c:v>S5</c:v>
                  </c:pt>
                  <c:pt idx="5">
                    <c:v>S6</c:v>
                  </c:pt>
                </c:lvl>
              </c:multiLvlStrCache>
            </c:multiLvlStrRef>
          </c:cat>
          <c:val>
            <c:numRef>
              <c:f>Sheet1!$C$2:$C$7</c:f>
              <c:numCache>
                <c:formatCode>General</c:formatCode>
                <c:ptCount val="6"/>
                <c:pt idx="0">
                  <c:v>13</c:v>
                </c:pt>
                <c:pt idx="1">
                  <c:v>11</c:v>
                </c:pt>
                <c:pt idx="2">
                  <c:v>11</c:v>
                </c:pt>
                <c:pt idx="3">
                  <c:v>11</c:v>
                </c:pt>
                <c:pt idx="4">
                  <c:v>9</c:v>
                </c:pt>
                <c:pt idx="5">
                  <c:v>11</c:v>
                </c:pt>
              </c:numCache>
            </c:numRef>
          </c:val>
        </c:ser>
        <c:dLbls>
          <c:numFmt formatCode="#,##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15"/>
          <c:min val="0"/>
        </c:scaling>
        <c:delete val="0"/>
        <c:axPos val="l"/>
        <c:majorGridlines>
          <c:spPr>
            <a:ln w="6350" cap="flat">
              <a:solidFill>
                <a:srgbClr val="D8E0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3415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AI Lost Item Finder: a knowledge-based system for the Foundations of AI course. It uses first-order-logic facts, IF-THEN rules with certainty factors and backward chaining. The graphic shows the goal LikelyAt(ID, ?l) being proved through rule R3 for a lost college ID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people rely on memory and check places at random, with no explanation. Objectives follow the report: FOL facts, rules with certainty factors, backward chaining, goal-directed questions, a session fact store, ranked results and a reasoning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Cite the works named on the cards; they appear in the report references. The table compares manual searching, tracker tags, forward chaining and this system. The gap is applying symbolic reasoning to untagged belongings and making the reasoning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 scheme follows the reference deck: blue for input and output, green for data modules, yellow for processing and red for the AI algorithm. Flow: user answers become facts, facts and rules feed the inference engine, and the engine returns the location with its explanation. The engine asks the user for further answers only when a sub-goal cannot be proved from known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six rules with certainty factors from Table 3.1, stored as data so they can be edited without touching the engine. Middle: backward chaining with unification and depth-first proof. Right: certainty-factor ranking, the 0.75 stopping threshold and the R6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 trace: R1 fails because the user is not sure where the card was last used; R2 fails for bag and wallet; R3 succeeds after the user confirms the card came out of the bag at the study table. The table summarises all six scenarios from Table 5.2 of the report. Answers were scripted, so this tests correctness of reasoning, not real-world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Backward chaining asked 28 questions in total against 66 for a fixed questionnaire, about 58 per cent fewer. All results come from scripted scenarios, so they show the reasoning is correct, not how accurate it is with real users. Close with future work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1F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6766560" cy="82296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0715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594360"/>
          </a:xfrm>
          <a:prstGeom prst="rect">
            <a:avLst/>
          </a:prstGeom>
          <a:noFill/>
          <a:ln/>
        </p:spPr>
        <p:txBody>
          <a:bodyPr wrap="square" rtlCol="0"/>
          <a:lstStyle>
            <a:lvl1pPr algn="l" indent="0" marL="0">
              <a:buNone/>
              <a:defRPr lang="en-US" sz="3000" b="1" dirty="0">
                <a:solidFill>
                  <a:srgbClr val="FFFFFF"/>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BD5E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594360"/>
          </a:xfrm>
          <a:prstGeom prst="rect">
            <a:avLst/>
          </a:prstGeom>
          <a:noFill/>
          <a:ln/>
        </p:spPr>
        <p:txBody>
          <a:bodyPr wrap="square" rtlCol="0"/>
          <a:lstStyle>
            <a:lvl1pPr algn="l" indent="0" marL="0">
              <a:buNone/>
              <a:defRPr lang="en-US" sz="3000" b="1" dirty="0">
                <a:solidFill>
                  <a:srgbClr val="0B1F3A"/>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BD5E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circle top"/>
          <p:cNvSpPr/>
          <p:nvPr/>
        </p:nvSpPr>
        <p:spPr>
          <a:xfrm>
            <a:off x="9052560" y="-1554480"/>
            <a:ext cx="4754880" cy="4754880"/>
          </a:xfrm>
          <a:prstGeom prst="ellipse">
            <a:avLst/>
          </a:prstGeom>
          <a:solidFill>
            <a:srgbClr val="0F3A52"/>
          </a:solidFill>
          <a:ln w="12700">
            <a:solidFill>
              <a:srgbClr val="0F3A52"/>
            </a:solidFill>
            <a:prstDash val="solid"/>
          </a:ln>
        </p:spPr>
      </p:sp>
      <p:sp>
        <p:nvSpPr>
          <p:cNvPr id="3" name="Decor circle bottom-left"/>
          <p:cNvSpPr/>
          <p:nvPr/>
        </p:nvSpPr>
        <p:spPr>
          <a:xfrm>
            <a:off x="-1188720" y="5394960"/>
            <a:ext cx="2926080" cy="2926080"/>
          </a:xfrm>
          <a:prstGeom prst="ellipse">
            <a:avLst/>
          </a:prstGeom>
          <a:solidFill>
            <a:srgbClr val="0E2A4D"/>
          </a:solidFill>
          <a:ln w="12700">
            <a:solidFill>
              <a:srgbClr val="0E2A4D"/>
            </a:solidFill>
            <a:prstDash val="solid"/>
          </a:ln>
        </p:spPr>
      </p:sp>
      <p:sp>
        <p:nvSpPr>
          <p:cNvPr id="4" name="Decor circle result"/>
          <p:cNvSpPr/>
          <p:nvPr/>
        </p:nvSpPr>
        <p:spPr>
          <a:xfrm>
            <a:off x="7315200" y="4297680"/>
            <a:ext cx="4206240" cy="4206240"/>
          </a:xfrm>
          <a:prstGeom prst="ellipse">
            <a:avLst/>
          </a:prstGeom>
          <a:solidFill>
            <a:srgbClr val="0E2D4A"/>
          </a:solidFill>
          <a:ln w="12700">
            <a:solidFill>
              <a:srgbClr val="0E2D4A"/>
            </a:solidFill>
            <a:prstDash val="solid"/>
          </a:ln>
        </p:spPr>
      </p:sp>
      <p:pic>
        <p:nvPicPr>
          <p:cNvPr id="5" name="Image 0" descr="Search icon">    </p:cNvPr>
          <p:cNvPicPr>
            <a:picLocks noChangeAspect="1"/>
          </p:cNvPicPr>
          <p:nvPr/>
        </p:nvPicPr>
        <p:blipFill>
          <a:blip r:embed="rId1"/>
          <a:stretch>
            <a:fillRect/>
          </a:stretch>
        </p:blipFill>
        <p:spPr>
          <a:xfrm>
            <a:off x="640080" y="594360"/>
            <a:ext cx="457200" cy="457200"/>
          </a:xfrm>
          <a:prstGeom prst="rect">
            <a:avLst/>
          </a:prstGeom>
        </p:spPr>
      </p:pic>
      <p:sp>
        <p:nvSpPr>
          <p:cNvPr id="6" name="Course label"/>
          <p:cNvSpPr txBox="1"/>
          <p:nvPr/>
        </p:nvSpPr>
        <p:spPr>
          <a:xfrm>
            <a:off x="1280160" y="594360"/>
            <a:ext cx="5943600" cy="457200"/>
          </a:xfrm>
          <a:prstGeom prst="rect">
            <a:avLst/>
          </a:prstGeom>
          <a:noFill/>
          <a:ln/>
        </p:spPr>
        <p:txBody>
          <a:bodyPr wrap="square" lIns="0" tIns="0" rIns="0" bIns="0" rtlCol="0" anchor="ctr"/>
          <a:lstStyle/>
          <a:p>
            <a:pPr indent="0" marL="0">
              <a:buNone/>
            </a:pPr>
            <a:r>
              <a:rPr lang="en-US" sz="1200" b="1" spc="400" kern="0" dirty="0">
                <a:solidFill>
                  <a:srgbClr val="22D3EE"/>
                </a:solidFill>
              </a:rPr>
              <a:t>FOUNDATIONS OF ARTIFICIAL INTELLIGENCE</a:t>
            </a:r>
            <a:endParaRPr lang="en-US" sz="1200" dirty="0"/>
          </a:p>
        </p:txBody>
      </p:sp>
      <p:sp>
        <p:nvSpPr>
          <p:cNvPr id="7" name="Text 0"/>
          <p:cNvSpPr/>
          <p:nvPr>
            <p:ph idx="100" type="title" hasCustomPrompt="1"/>
          </p:nvPr>
        </p:nvSpPr>
        <p:spPr>
          <a:xfrm>
            <a:off x="640080" y="1371600"/>
            <a:ext cx="6766560" cy="822960"/>
          </a:xfrm>
          <a:prstGeom prst="rect">
            <a:avLst/>
          </a:prstGeom>
          <a:noFill/>
          <a:ln/>
        </p:spPr>
        <p:txBody>
          <a:bodyPr wrap="square" lIns="0" tIns="0" rIns="0" bIns="0" rtlCol="0" anchor="ctr"/>
          <a:lstStyle/>
          <a:p>
            <a:pPr algn="l" indent="0" marL="0">
              <a:buNone/>
            </a:pPr>
            <a:r>
              <a:rPr lang="en-US" sz="4000" b="1" dirty="0">
                <a:solidFill>
                  <a:srgbClr val="FFFFFF"/>
                </a:solidFill>
              </a:rPr>
              <a:t>AI LOST ITEM FINDER</a:t>
            </a:r>
            <a:endParaRPr lang="en-US" sz="4000" dirty="0"/>
          </a:p>
        </p:txBody>
      </p:sp>
      <p:sp>
        <p:nvSpPr>
          <p:cNvPr id="8" name="Subtitle"/>
          <p:cNvSpPr txBox="1"/>
          <p:nvPr/>
        </p:nvSpPr>
        <p:spPr>
          <a:xfrm>
            <a:off x="640080" y="2286000"/>
            <a:ext cx="6583680" cy="777240"/>
          </a:xfrm>
          <a:prstGeom prst="rect">
            <a:avLst/>
          </a:prstGeom>
          <a:noFill/>
          <a:ln/>
        </p:spPr>
        <p:txBody>
          <a:bodyPr wrap="square" lIns="0" tIns="0" rIns="0" bIns="0" rtlCol="0" anchor="t"/>
          <a:lstStyle/>
          <a:p>
            <a:pPr indent="0" marL="0">
              <a:buNone/>
            </a:pPr>
            <a:r>
              <a:rPr lang="en-US" sz="2100" b="1" dirty="0">
                <a:solidFill>
                  <a:srgbClr val="22D3EE"/>
                </a:solidFill>
              </a:rPr>
              <a:t>Knowledge Representation and Backward Chaining</a:t>
            </a:r>
            <a:endParaRPr lang="en-US" sz="2100" dirty="0"/>
          </a:p>
        </p:txBody>
      </p:sp>
      <p:sp>
        <p:nvSpPr>
          <p:cNvPr id="9" name="Tagline"/>
          <p:cNvSpPr txBox="1"/>
          <p:nvPr/>
        </p:nvSpPr>
        <p:spPr>
          <a:xfrm>
            <a:off x="640080" y="3108960"/>
            <a:ext cx="6583680" cy="365760"/>
          </a:xfrm>
          <a:prstGeom prst="rect">
            <a:avLst/>
          </a:prstGeom>
          <a:noFill/>
          <a:ln/>
        </p:spPr>
        <p:txBody>
          <a:bodyPr wrap="square" lIns="0" tIns="0" rIns="0" bIns="0" rtlCol="0" anchor="ctr"/>
          <a:lstStyle/>
          <a:p>
            <a:pPr indent="0" marL="0">
              <a:buNone/>
            </a:pPr>
            <a:r>
              <a:rPr lang="en-US" sz="1500" dirty="0">
                <a:solidFill>
                  <a:srgbClr val="5EEAD4"/>
                </a:solidFill>
              </a:rPr>
              <a:t>Fewer questions. Every conclusion explained.</a:t>
            </a:r>
            <a:endParaRPr lang="en-US" sz="1500" dirty="0"/>
          </a:p>
        </p:txBody>
      </p:sp>
      <p:sp>
        <p:nvSpPr>
          <p:cNvPr id="10" name="Description"/>
          <p:cNvSpPr txBox="1"/>
          <p:nvPr/>
        </p:nvSpPr>
        <p:spPr>
          <a:xfrm>
            <a:off x="640080" y="3611880"/>
            <a:ext cx="6400800" cy="914400"/>
          </a:xfrm>
          <a:prstGeom prst="rect">
            <a:avLst/>
          </a:prstGeom>
          <a:noFill/>
          <a:ln/>
        </p:spPr>
        <p:txBody>
          <a:bodyPr wrap="square" lIns="0" tIns="0" rIns="0" bIns="0" rtlCol="0" anchor="t"/>
          <a:lstStyle/>
          <a:p>
            <a:pPr indent="0" marL="0">
              <a:buNone/>
            </a:pPr>
            <a:r>
              <a:rPr lang="en-US" sz="1300" dirty="0">
                <a:solidFill>
                  <a:srgbClr val="CBD5E1"/>
                </a:solidFill>
              </a:rPr>
              <a:t>A knowledge-based system that stores items, containers, activities and locations as first-order-logic facts and IF–THEN rules, then uses backward chaining to ask only the questions needed to find where a misplaced item most likely is.</a:t>
            </a:r>
            <a:endParaRPr lang="en-US" sz="1300" dirty="0"/>
          </a:p>
        </p:txBody>
      </p:sp>
      <p:sp>
        <p:nvSpPr>
          <p:cNvPr id="11" name="Presenters"/>
          <p:cNvSpPr txBox="1"/>
          <p:nvPr/>
        </p:nvSpPr>
        <p:spPr>
          <a:xfrm>
            <a:off x="640080" y="4800600"/>
            <a:ext cx="6766560" cy="365760"/>
          </a:xfrm>
          <a:prstGeom prst="rect">
            <a:avLst/>
          </a:prstGeom>
          <a:noFill/>
          <a:ln/>
        </p:spPr>
        <p:txBody>
          <a:bodyPr wrap="square" lIns="0" tIns="0" rIns="0" bIns="0" rtlCol="0" anchor="ctr"/>
          <a:lstStyle/>
          <a:p>
            <a:pPr indent="0" marL="0">
              <a:buNone/>
            </a:pPr>
            <a:r>
              <a:rPr lang="en-US" sz="1400" b="1" dirty="0">
                <a:solidFill>
                  <a:srgbClr val="22D3EE"/>
                </a:solidFill>
              </a:rPr>
              <a:t>Presented By: </a:t>
            </a:r>
            <a:pPr indent="0" marL="0">
              <a:buNone/>
            </a:pPr>
            <a:r>
              <a:rPr lang="en-US" sz="1400" dirty="0">
                <a:solidFill>
                  <a:srgbClr val="FFFFFF"/>
                </a:solidFill>
              </a:rPr>
              <a:t>G S Pranav (240701392) and M Sengathir (240701484)</a:t>
            </a:r>
            <a:endParaRPr lang="en-US" sz="1400" dirty="0"/>
          </a:p>
        </p:txBody>
      </p:sp>
      <p:sp>
        <p:nvSpPr>
          <p:cNvPr id="12" name="Institution details"/>
          <p:cNvSpPr txBox="1"/>
          <p:nvPr/>
        </p:nvSpPr>
        <p:spPr>
          <a:xfrm>
            <a:off x="640080" y="5349240"/>
            <a:ext cx="6400800" cy="777240"/>
          </a:xfrm>
          <a:prstGeom prst="rect">
            <a:avLst/>
          </a:prstGeom>
          <a:noFill/>
          <a:ln/>
        </p:spPr>
        <p:txBody>
          <a:bodyPr wrap="square" lIns="0" tIns="0" rIns="0" bIns="0" rtlCol="0" anchor="t"/>
          <a:lstStyle/>
          <a:p>
            <a:pPr indent="0" marL="0">
              <a:spcAft>
                <a:spcPts val="300"/>
              </a:spcAft>
              <a:buNone/>
            </a:pPr>
            <a:r>
              <a:rPr lang="en-US" sz="1300" b="1" dirty="0">
                <a:solidFill>
                  <a:srgbClr val="22D3EE"/>
                </a:solidFill>
              </a:rPr>
              <a:t>Department: </a:t>
            </a:r>
            <a:pPr indent="0" marL="0">
              <a:spcAft>
                <a:spcPts val="300"/>
              </a:spcAft>
              <a:buNone/>
            </a:pPr>
            <a:r>
              <a:rPr lang="en-US" sz="1300" dirty="0">
                <a:solidFill>
                  <a:srgbClr val="FFFFFF"/>
                </a:solidFill>
              </a:rPr>
              <a:t>Computer Science and Engineering</a:t>
            </a:r>
            <a:endParaRPr lang="en-US" sz="1300" dirty="0"/>
          </a:p>
          <a:p>
            <a:pPr indent="0" marL="0">
              <a:spcAft>
                <a:spcPts val="300"/>
              </a:spcAft>
              <a:buNone/>
            </a:pPr>
            <a:r>
              <a:rPr lang="en-US" sz="1300" b="1" dirty="0">
                <a:solidFill>
                  <a:srgbClr val="22D3EE"/>
                </a:solidFill>
              </a:rPr>
              <a:t>College: </a:t>
            </a:r>
            <a:pPr indent="0" marL="0">
              <a:spcAft>
                <a:spcPts val="300"/>
              </a:spcAft>
              <a:buNone/>
            </a:pPr>
            <a:r>
              <a:rPr lang="en-US" sz="1300" dirty="0">
                <a:solidFill>
                  <a:srgbClr val="FFFFFF"/>
                </a:solidFill>
              </a:rPr>
              <a:t>Rajalakshmi Engineering College</a:t>
            </a:r>
            <a:endParaRPr lang="en-US" sz="1300" dirty="0"/>
          </a:p>
          <a:p>
            <a:pPr indent="0" marL="0">
              <a:spcAft>
                <a:spcPts val="300"/>
              </a:spcAft>
              <a:buNone/>
            </a:pPr>
            <a:r>
              <a:rPr lang="en-US" sz="1300" b="1" dirty="0">
                <a:solidFill>
                  <a:srgbClr val="22D3EE"/>
                </a:solidFill>
              </a:rPr>
              <a:t>Academic Year: </a:t>
            </a:r>
            <a:pPr indent="0" marL="0">
              <a:spcAft>
                <a:spcPts val="300"/>
              </a:spcAft>
              <a:buNone/>
            </a:pPr>
            <a:r>
              <a:rPr lang="en-US" sz="1300" dirty="0">
                <a:solidFill>
                  <a:srgbClr val="FFFFFF"/>
                </a:solidFill>
              </a:rPr>
              <a:t>2026–2027</a:t>
            </a:r>
            <a:endParaRPr lang="en-US" sz="1300" dirty="0"/>
          </a:p>
        </p:txBody>
      </p:sp>
      <p:sp>
        <p:nvSpPr>
          <p:cNvPr id="13" name="Edge root-R1"/>
          <p:cNvSpPr/>
          <p:nvPr/>
        </p:nvSpPr>
        <p:spPr>
          <a:xfrm flipV="1">
            <a:off x="8229600" y="1371600"/>
            <a:ext cx="1417320" cy="594360"/>
          </a:xfrm>
          <a:prstGeom prst="line">
            <a:avLst/>
          </a:prstGeom>
          <a:noFill/>
          <a:ln w="19050">
            <a:solidFill>
              <a:srgbClr val="3B6A9A"/>
            </a:solidFill>
            <a:prstDash val="solid"/>
          </a:ln>
        </p:spPr>
      </p:sp>
      <p:sp>
        <p:nvSpPr>
          <p:cNvPr id="14" name="Edge root-R2"/>
          <p:cNvSpPr/>
          <p:nvPr/>
        </p:nvSpPr>
        <p:spPr>
          <a:xfrm flipV="1">
            <a:off x="9418320" y="1371600"/>
            <a:ext cx="228600" cy="594360"/>
          </a:xfrm>
          <a:prstGeom prst="line">
            <a:avLst/>
          </a:prstGeom>
          <a:noFill/>
          <a:ln w="19050">
            <a:solidFill>
              <a:srgbClr val="3B6A9A"/>
            </a:solidFill>
            <a:prstDash val="solid"/>
          </a:ln>
        </p:spPr>
      </p:sp>
      <p:sp>
        <p:nvSpPr>
          <p:cNvPr id="15" name="Edge root-R3"/>
          <p:cNvSpPr/>
          <p:nvPr/>
        </p:nvSpPr>
        <p:spPr>
          <a:xfrm>
            <a:off x="9646920" y="1371600"/>
            <a:ext cx="1234440" cy="594360"/>
          </a:xfrm>
          <a:prstGeom prst="line">
            <a:avLst/>
          </a:prstGeom>
          <a:noFill/>
          <a:ln w="31750">
            <a:solidFill>
              <a:srgbClr val="22D3EE"/>
            </a:solidFill>
            <a:prstDash val="solid"/>
          </a:ln>
        </p:spPr>
      </p:sp>
      <p:sp>
        <p:nvSpPr>
          <p:cNvPr id="16" name="Edge R3-leaf1"/>
          <p:cNvSpPr/>
          <p:nvPr/>
        </p:nvSpPr>
        <p:spPr>
          <a:xfrm flipV="1">
            <a:off x="8732520" y="2377440"/>
            <a:ext cx="2148840" cy="685800"/>
          </a:xfrm>
          <a:prstGeom prst="line">
            <a:avLst/>
          </a:prstGeom>
          <a:noFill/>
          <a:ln w="25400">
            <a:solidFill>
              <a:srgbClr val="22D3EE"/>
            </a:solidFill>
            <a:prstDash val="solid"/>
          </a:ln>
        </p:spPr>
      </p:sp>
      <p:sp>
        <p:nvSpPr>
          <p:cNvPr id="17" name="Edge R3-leaf2"/>
          <p:cNvSpPr/>
          <p:nvPr/>
        </p:nvSpPr>
        <p:spPr>
          <a:xfrm flipV="1">
            <a:off x="10698480" y="2377440"/>
            <a:ext cx="182880" cy="685800"/>
          </a:xfrm>
          <a:prstGeom prst="line">
            <a:avLst/>
          </a:prstGeom>
          <a:noFill/>
          <a:ln w="25400">
            <a:solidFill>
              <a:srgbClr val="22D3EE"/>
            </a:solidFill>
            <a:prstDash val="solid"/>
          </a:ln>
        </p:spPr>
      </p:sp>
      <p:sp>
        <p:nvSpPr>
          <p:cNvPr id="18" name="Goal node"/>
          <p:cNvSpPr/>
          <p:nvPr/>
        </p:nvSpPr>
        <p:spPr>
          <a:xfrm>
            <a:off x="8412480" y="914400"/>
            <a:ext cx="2468880" cy="457200"/>
          </a:xfrm>
          <a:prstGeom prst="roundRect">
            <a:avLst>
              <a:gd name="adj" fmla="val 20000"/>
            </a:avLst>
          </a:prstGeom>
          <a:solidFill>
            <a:srgbClr val="22D3EE"/>
          </a:solidFill>
          <a:ln w="19050">
            <a:solidFill>
              <a:srgbClr val="FFFFFF"/>
            </a:solidFill>
            <a:prstDash val="solid"/>
          </a:ln>
        </p:spPr>
      </p:sp>
      <p:sp>
        <p:nvSpPr>
          <p:cNvPr id="19" name="Text 16"/>
          <p:cNvSpPr txBox="1"/>
          <p:nvPr/>
        </p:nvSpPr>
        <p:spPr>
          <a:xfrm>
            <a:off x="8412480" y="914400"/>
            <a:ext cx="2468880" cy="457200"/>
          </a:xfrm>
          <a:prstGeom prst="rect">
            <a:avLst/>
          </a:prstGeom>
          <a:noFill/>
          <a:ln/>
        </p:spPr>
        <p:txBody>
          <a:bodyPr wrap="square" lIns="0" tIns="0" rIns="0" bIns="0" rtlCol="0" anchor="ctr"/>
          <a:lstStyle/>
          <a:p>
            <a:pPr algn="ctr" indent="0" marL="0">
              <a:buNone/>
            </a:pPr>
            <a:r>
              <a:rPr lang="en-US" sz="1300" b="1" dirty="0">
                <a:solidFill>
                  <a:srgbClr val="0B1F3A"/>
                </a:solidFill>
              </a:rPr>
              <a:t>LikelyAt(ID, ?l)</a:t>
            </a:r>
            <a:endParaRPr lang="en-US" sz="1300" dirty="0"/>
          </a:p>
        </p:txBody>
      </p:sp>
      <p:sp>
        <p:nvSpPr>
          <p:cNvPr id="20" name="Rule node R1"/>
          <p:cNvSpPr/>
          <p:nvPr/>
        </p:nvSpPr>
        <p:spPr>
          <a:xfrm>
            <a:off x="7680960" y="1965960"/>
            <a:ext cx="1005840" cy="411480"/>
          </a:xfrm>
          <a:prstGeom prst="roundRect">
            <a:avLst>
              <a:gd name="adj" fmla="val 22222"/>
            </a:avLst>
          </a:prstGeom>
          <a:solidFill>
            <a:srgbClr val="0B1F3A"/>
          </a:solidFill>
          <a:ln w="15875">
            <a:solidFill>
              <a:srgbClr val="3B6A9A"/>
            </a:solidFill>
            <a:prstDash val="solid"/>
          </a:ln>
        </p:spPr>
      </p:sp>
      <p:sp>
        <p:nvSpPr>
          <p:cNvPr id="21" name="Text 18"/>
          <p:cNvSpPr txBox="1"/>
          <p:nvPr/>
        </p:nvSpPr>
        <p:spPr>
          <a:xfrm>
            <a:off x="7680960" y="1965960"/>
            <a:ext cx="1005840" cy="411480"/>
          </a:xfrm>
          <a:prstGeom prst="rect">
            <a:avLst/>
          </a:prstGeom>
          <a:noFill/>
          <a:ln/>
        </p:spPr>
        <p:txBody>
          <a:bodyPr wrap="square" lIns="0" tIns="0" rIns="0" bIns="0" rtlCol="0" anchor="ctr"/>
          <a:lstStyle/>
          <a:p>
            <a:pPr algn="ctr" indent="0" marL="0">
              <a:buNone/>
            </a:pPr>
            <a:r>
              <a:rPr lang="en-US" sz="1200" b="1" dirty="0">
                <a:solidFill>
                  <a:srgbClr val="94A3B8"/>
                </a:solidFill>
              </a:rPr>
              <a:t>R1 ✕</a:t>
            </a:r>
            <a:endParaRPr lang="en-US" sz="1200" dirty="0"/>
          </a:p>
        </p:txBody>
      </p:sp>
      <p:sp>
        <p:nvSpPr>
          <p:cNvPr id="22" name="Rule node R2"/>
          <p:cNvSpPr/>
          <p:nvPr/>
        </p:nvSpPr>
        <p:spPr>
          <a:xfrm>
            <a:off x="8915400" y="1965960"/>
            <a:ext cx="1005840" cy="411480"/>
          </a:xfrm>
          <a:prstGeom prst="roundRect">
            <a:avLst>
              <a:gd name="adj" fmla="val 22222"/>
            </a:avLst>
          </a:prstGeom>
          <a:solidFill>
            <a:srgbClr val="0B1F3A"/>
          </a:solidFill>
          <a:ln w="15875">
            <a:solidFill>
              <a:srgbClr val="3B6A9A"/>
            </a:solidFill>
            <a:prstDash val="solid"/>
          </a:ln>
        </p:spPr>
      </p:sp>
      <p:sp>
        <p:nvSpPr>
          <p:cNvPr id="23" name="Text 20"/>
          <p:cNvSpPr txBox="1"/>
          <p:nvPr/>
        </p:nvSpPr>
        <p:spPr>
          <a:xfrm>
            <a:off x="8915400" y="1965960"/>
            <a:ext cx="1005840" cy="411480"/>
          </a:xfrm>
          <a:prstGeom prst="rect">
            <a:avLst/>
          </a:prstGeom>
          <a:noFill/>
          <a:ln/>
        </p:spPr>
        <p:txBody>
          <a:bodyPr wrap="square" lIns="0" tIns="0" rIns="0" bIns="0" rtlCol="0" anchor="ctr"/>
          <a:lstStyle/>
          <a:p>
            <a:pPr algn="ctr" indent="0" marL="0">
              <a:buNone/>
            </a:pPr>
            <a:r>
              <a:rPr lang="en-US" sz="1200" b="1" dirty="0">
                <a:solidFill>
                  <a:srgbClr val="94A3B8"/>
                </a:solidFill>
              </a:rPr>
              <a:t>R2 ✕</a:t>
            </a:r>
            <a:endParaRPr lang="en-US" sz="1200" dirty="0"/>
          </a:p>
        </p:txBody>
      </p:sp>
      <p:sp>
        <p:nvSpPr>
          <p:cNvPr id="24" name="Rule node R3"/>
          <p:cNvSpPr/>
          <p:nvPr/>
        </p:nvSpPr>
        <p:spPr>
          <a:xfrm>
            <a:off x="10241280" y="1965960"/>
            <a:ext cx="1280160" cy="411480"/>
          </a:xfrm>
          <a:prstGeom prst="roundRect">
            <a:avLst>
              <a:gd name="adj" fmla="val 22222"/>
            </a:avLst>
          </a:prstGeom>
          <a:solidFill>
            <a:srgbClr val="14B8A6"/>
          </a:solidFill>
          <a:ln w="19050">
            <a:solidFill>
              <a:srgbClr val="FFFFFF"/>
            </a:solidFill>
            <a:prstDash val="solid"/>
          </a:ln>
        </p:spPr>
      </p:sp>
      <p:sp>
        <p:nvSpPr>
          <p:cNvPr id="25" name="Text 22"/>
          <p:cNvSpPr txBox="1"/>
          <p:nvPr/>
        </p:nvSpPr>
        <p:spPr>
          <a:xfrm>
            <a:off x="10241280" y="1965960"/>
            <a:ext cx="1280160" cy="411480"/>
          </a:xfrm>
          <a:prstGeom prst="rect">
            <a:avLst/>
          </a:prstGeom>
          <a:noFill/>
          <a:ln/>
        </p:spPr>
        <p:txBody>
          <a:bodyPr wrap="square" lIns="0" tIns="0" rIns="0" bIns="0" rtlCol="0" anchor="ctr"/>
          <a:lstStyle/>
          <a:p>
            <a:pPr algn="ctr" indent="0" marL="0">
              <a:buNone/>
            </a:pPr>
            <a:r>
              <a:rPr lang="en-US" sz="1200" b="1" dirty="0">
                <a:solidFill>
                  <a:srgbClr val="0B1F3A"/>
                </a:solidFill>
              </a:rPr>
              <a:t>R3 ✓</a:t>
            </a:r>
            <a:endParaRPr lang="en-US" sz="1200" dirty="0"/>
          </a:p>
        </p:txBody>
      </p:sp>
      <p:sp>
        <p:nvSpPr>
          <p:cNvPr id="26" name="Fact Removed(ID, Bag)"/>
          <p:cNvSpPr/>
          <p:nvPr/>
        </p:nvSpPr>
        <p:spPr>
          <a:xfrm>
            <a:off x="7772400" y="3063240"/>
            <a:ext cx="1920240" cy="411480"/>
          </a:xfrm>
          <a:prstGeom prst="roundRect">
            <a:avLst>
              <a:gd name="adj" fmla="val 22222"/>
            </a:avLst>
          </a:prstGeom>
          <a:solidFill>
            <a:srgbClr val="112B4D"/>
          </a:solidFill>
          <a:ln w="15875">
            <a:solidFill>
              <a:srgbClr val="22D3EE"/>
            </a:solidFill>
            <a:prstDash val="solid"/>
          </a:ln>
        </p:spPr>
      </p:sp>
      <p:sp>
        <p:nvSpPr>
          <p:cNvPr id="27" name="Text 24"/>
          <p:cNvSpPr txBox="1"/>
          <p:nvPr/>
        </p:nvSpPr>
        <p:spPr>
          <a:xfrm>
            <a:off x="7772400" y="3063240"/>
            <a:ext cx="1920240" cy="411480"/>
          </a:xfrm>
          <a:prstGeom prst="rect">
            <a:avLst/>
          </a:prstGeom>
          <a:noFill/>
          <a:ln/>
        </p:spPr>
        <p:txBody>
          <a:bodyPr wrap="square" lIns="0" tIns="0" rIns="0" bIns="0" rtlCol="0" anchor="ctr"/>
          <a:lstStyle/>
          <a:p>
            <a:pPr algn="ctr" indent="0" marL="0">
              <a:buNone/>
            </a:pPr>
            <a:r>
              <a:rPr lang="en-US" sz="1100" dirty="0">
                <a:solidFill>
                  <a:srgbClr val="FFFFFF"/>
                </a:solidFill>
              </a:rPr>
              <a:t>Removed(ID, Bag)</a:t>
            </a:r>
            <a:endParaRPr lang="en-US" sz="1100" dirty="0"/>
          </a:p>
        </p:txBody>
      </p:sp>
      <p:sp>
        <p:nvSpPr>
          <p:cNvPr id="28" name="Fact RemovedAt(ID, StudyTable)"/>
          <p:cNvSpPr/>
          <p:nvPr/>
        </p:nvSpPr>
        <p:spPr>
          <a:xfrm>
            <a:off x="9829800" y="3063240"/>
            <a:ext cx="2103120" cy="411480"/>
          </a:xfrm>
          <a:prstGeom prst="roundRect">
            <a:avLst>
              <a:gd name="adj" fmla="val 22222"/>
            </a:avLst>
          </a:prstGeom>
          <a:solidFill>
            <a:srgbClr val="112B4D"/>
          </a:solidFill>
          <a:ln w="15875">
            <a:solidFill>
              <a:srgbClr val="22D3EE"/>
            </a:solidFill>
            <a:prstDash val="solid"/>
          </a:ln>
        </p:spPr>
      </p:sp>
      <p:sp>
        <p:nvSpPr>
          <p:cNvPr id="29" name="Text 26"/>
          <p:cNvSpPr txBox="1"/>
          <p:nvPr/>
        </p:nvSpPr>
        <p:spPr>
          <a:xfrm>
            <a:off x="9829800" y="3063240"/>
            <a:ext cx="2103120" cy="411480"/>
          </a:xfrm>
          <a:prstGeom prst="rect">
            <a:avLst/>
          </a:prstGeom>
          <a:noFill/>
          <a:ln/>
        </p:spPr>
        <p:txBody>
          <a:bodyPr wrap="square" lIns="0" tIns="0" rIns="0" bIns="0" rtlCol="0" anchor="ctr"/>
          <a:lstStyle/>
          <a:p>
            <a:pPr algn="ctr" indent="0" marL="0">
              <a:buNone/>
            </a:pPr>
            <a:r>
              <a:rPr lang="en-US" sz="1100" dirty="0">
                <a:solidFill>
                  <a:srgbClr val="FFFFFF"/>
                </a:solidFill>
              </a:rPr>
              <a:t>RemovedAt(ID, StudyTable)</a:t>
            </a:r>
            <a:endParaRPr lang="en-US" sz="1100" dirty="0"/>
          </a:p>
        </p:txBody>
      </p:sp>
      <p:sp>
        <p:nvSpPr>
          <p:cNvPr id="30" name="Result card"/>
          <p:cNvSpPr/>
          <p:nvPr/>
        </p:nvSpPr>
        <p:spPr>
          <a:xfrm>
            <a:off x="7955280" y="4114800"/>
            <a:ext cx="3566160" cy="1600200"/>
          </a:xfrm>
          <a:prstGeom prst="roundRect">
            <a:avLst>
              <a:gd name="adj" fmla="val 6857"/>
            </a:avLst>
          </a:prstGeom>
          <a:solidFill>
            <a:srgbClr val="112B4D"/>
          </a:solidFill>
          <a:ln w="19050">
            <a:solidFill>
              <a:srgbClr val="22D3EE"/>
            </a:solidFill>
            <a:prstDash val="solid"/>
          </a:ln>
        </p:spPr>
      </p:sp>
      <p:sp>
        <p:nvSpPr>
          <p:cNvPr id="31" name="Text 28"/>
          <p:cNvSpPr txBox="1"/>
          <p:nvPr/>
        </p:nvSpPr>
        <p:spPr>
          <a:xfrm>
            <a:off x="8229600" y="4251960"/>
            <a:ext cx="3017520" cy="274320"/>
          </a:xfrm>
          <a:prstGeom prst="rect">
            <a:avLst/>
          </a:prstGeom>
          <a:noFill/>
          <a:ln/>
        </p:spPr>
        <p:txBody>
          <a:bodyPr wrap="square" lIns="0" tIns="0" rIns="0" bIns="0" rtlCol="0" anchor="ctr"/>
          <a:lstStyle/>
          <a:p>
            <a:pPr indent="0" marL="0">
              <a:buNone/>
            </a:pPr>
            <a:r>
              <a:rPr lang="en-US" sz="1100" b="1" spc="200" kern="0" dirty="0">
                <a:solidFill>
                  <a:srgbClr val="22D3EE"/>
                </a:solidFill>
              </a:rPr>
              <a:t>MOST LIKELY LOCATION</a:t>
            </a:r>
            <a:endParaRPr lang="en-US" sz="1100" dirty="0"/>
          </a:p>
        </p:txBody>
      </p:sp>
      <p:sp>
        <p:nvSpPr>
          <p:cNvPr id="32" name="Text 29"/>
          <p:cNvSpPr txBox="1"/>
          <p:nvPr/>
        </p:nvSpPr>
        <p:spPr>
          <a:xfrm>
            <a:off x="8229600" y="4526280"/>
            <a:ext cx="3017520" cy="502920"/>
          </a:xfrm>
          <a:prstGeom prst="rect">
            <a:avLst/>
          </a:prstGeom>
          <a:noFill/>
          <a:ln/>
        </p:spPr>
        <p:txBody>
          <a:bodyPr wrap="square" lIns="0" tIns="0" rIns="0" bIns="0" rtlCol="0" anchor="ctr"/>
          <a:lstStyle/>
          <a:p>
            <a:pPr indent="0" marL="0">
              <a:buNone/>
            </a:pPr>
            <a:r>
              <a:rPr lang="en-US" sz="2400" b="1" dirty="0">
                <a:solidFill>
                  <a:srgbClr val="FFFFFF"/>
                </a:solidFill>
              </a:rPr>
              <a:t>Study Table</a:t>
            </a:r>
            <a:endParaRPr lang="en-US" sz="2400" dirty="0"/>
          </a:p>
        </p:txBody>
      </p:sp>
      <p:sp>
        <p:nvSpPr>
          <p:cNvPr id="33" name="Text 30"/>
          <p:cNvSpPr txBox="1"/>
          <p:nvPr/>
        </p:nvSpPr>
        <p:spPr>
          <a:xfrm>
            <a:off x="8229600" y="5074920"/>
            <a:ext cx="3108960" cy="365760"/>
          </a:xfrm>
          <a:prstGeom prst="rect">
            <a:avLst/>
          </a:prstGeom>
          <a:noFill/>
          <a:ln/>
        </p:spPr>
        <p:txBody>
          <a:bodyPr wrap="square" lIns="0" tIns="0" rIns="0" bIns="0" rtlCol="0" anchor="ctr"/>
          <a:lstStyle/>
          <a:p>
            <a:pPr indent="0" marL="0">
              <a:buNone/>
            </a:pPr>
            <a:r>
              <a:rPr lang="en-US" sz="1200" dirty="0">
                <a:solidFill>
                  <a:srgbClr val="CBD5E1"/>
                </a:solidFill>
              </a:rPr>
              <a:t>80% confidence · Rule R3 · 5 questions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594360"/>
          </a:xfrm>
          <a:prstGeom prst="rect">
            <a:avLst/>
          </a:prstGeom>
          <a:noFill/>
          <a:ln/>
        </p:spPr>
        <p:txBody>
          <a:bodyPr wrap="square" lIns="0" tIns="0" rIns="0" bIns="0" rtlCol="0" anchor="ctr"/>
          <a:lstStyle/>
          <a:p>
            <a:pPr algn="l" indent="0" marL="0">
              <a:buNone/>
            </a:pPr>
            <a:r>
              <a:rPr lang="en-US" sz="3000" b="1" dirty="0">
                <a:solidFill>
                  <a:srgbClr val="0B1F3A"/>
                </a:solidFill>
              </a:rPr>
              <a:t>Abstract and Objectives</a:t>
            </a:r>
            <a:endParaRPr lang="en-US" sz="3000" dirty="0"/>
          </a:p>
        </p:txBody>
      </p:sp>
      <p:sp>
        <p:nvSpPr>
          <p:cNvPr id="3" name="Subtitle"/>
          <p:cNvSpPr txBox="1"/>
          <p:nvPr/>
        </p:nvSpPr>
        <p:spPr>
          <a:xfrm>
            <a:off x="548640" y="914400"/>
            <a:ext cx="11064240" cy="365760"/>
          </a:xfrm>
          <a:prstGeom prst="rect">
            <a:avLst/>
          </a:prstGeom>
          <a:noFill/>
          <a:ln/>
        </p:spPr>
        <p:txBody>
          <a:bodyPr wrap="square" lIns="0" tIns="0" rIns="0" bIns="0" rtlCol="0" anchor="ctr"/>
          <a:lstStyle/>
          <a:p>
            <a:pPr indent="0" marL="0">
              <a:buNone/>
            </a:pPr>
            <a:r>
              <a:rPr lang="en-US" sz="1500" dirty="0">
                <a:solidFill>
                  <a:srgbClr val="14B8A6"/>
                </a:solidFill>
              </a:rPr>
              <a:t>Why a misplaced item needs reasoning, not random searching</a:t>
            </a:r>
            <a:endParaRPr lang="en-US" sz="1500" dirty="0"/>
          </a:p>
        </p:txBody>
      </p:sp>
      <p:sp>
        <p:nvSpPr>
          <p:cNvPr id="4" name="Abstract card"/>
          <p:cNvSpPr/>
          <p:nvPr/>
        </p:nvSpPr>
        <p:spPr>
          <a:xfrm>
            <a:off x="548640" y="1554480"/>
            <a:ext cx="5212080" cy="3931920"/>
          </a:xfrm>
          <a:prstGeom prst="roundRect">
            <a:avLst>
              <a:gd name="adj" fmla="val 1860"/>
            </a:avLst>
          </a:prstGeom>
          <a:solidFill>
            <a:srgbClr val="FFFFFF"/>
          </a:solidFill>
          <a:ln w="12700">
            <a:solidFill>
              <a:srgbClr val="D8E0E8"/>
            </a:solidFill>
            <a:prstDash val="solid"/>
          </a:ln>
        </p:spPr>
      </p:sp>
      <p:sp>
        <p:nvSpPr>
          <p:cNvPr id="5" name="Text 3"/>
          <p:cNvSpPr txBox="1"/>
          <p:nvPr/>
        </p:nvSpPr>
        <p:spPr>
          <a:xfrm>
            <a:off x="822960" y="1691640"/>
            <a:ext cx="4663440" cy="365760"/>
          </a:xfrm>
          <a:prstGeom prst="rect">
            <a:avLst/>
          </a:prstGeom>
          <a:noFill/>
          <a:ln/>
        </p:spPr>
        <p:txBody>
          <a:bodyPr wrap="square" lIns="0" tIns="0" rIns="0" bIns="0" rtlCol="0" anchor="ctr"/>
          <a:lstStyle/>
          <a:p>
            <a:pPr indent="0" marL="0">
              <a:buNone/>
            </a:pPr>
            <a:r>
              <a:rPr lang="en-US" sz="1800" b="1" dirty="0">
                <a:solidFill>
                  <a:srgbClr val="0B1F3A"/>
                </a:solidFill>
              </a:rPr>
              <a:t>Abstract</a:t>
            </a:r>
            <a:endParaRPr lang="en-US" sz="1800" dirty="0"/>
          </a:p>
        </p:txBody>
      </p:sp>
      <p:sp>
        <p:nvSpPr>
          <p:cNvPr id="6" name="Abstract text"/>
          <p:cNvSpPr txBox="1"/>
          <p:nvPr/>
        </p:nvSpPr>
        <p:spPr>
          <a:xfrm>
            <a:off x="822960" y="2103120"/>
            <a:ext cx="4663440" cy="2194560"/>
          </a:xfrm>
          <a:prstGeom prst="rect">
            <a:avLst/>
          </a:prstGeom>
          <a:noFill/>
          <a:ln/>
        </p:spPr>
        <p:txBody>
          <a:bodyPr wrap="square" lIns="0" tIns="0" rIns="0" bIns="0" rtlCol="0" anchor="t"/>
          <a:lstStyle/>
          <a:p>
            <a:pPr indent="0" marL="0">
              <a:buNone/>
            </a:pPr>
            <a:r>
              <a:rPr lang="en-US" sz="1300" dirty="0">
                <a:solidFill>
                  <a:srgbClr val="334155"/>
                </a:solidFill>
              </a:rPr>
              <a:t>People often misplace ID cards, phones, wallets, keys, chargers, earphones and books, then check places at random. The AI Lost Item Finder applies Knowledge Representation, First-Order Logic and backward chaining. Facts and IF–THEN rules with certainty factors are stored in a knowledge base. Starting from the goal LikelyAt(Item, ?Location), the engine asks only the questions needed, turns each answer into a fact and explains the most probable location.</a:t>
            </a:r>
            <a:endParaRPr lang="en-US" sz="1300" dirty="0"/>
          </a:p>
        </p:txBody>
      </p:sp>
      <p:sp>
        <p:nvSpPr>
          <p:cNvPr id="7" name="Text 5"/>
          <p:cNvSpPr txBox="1"/>
          <p:nvPr/>
        </p:nvSpPr>
        <p:spPr>
          <a:xfrm>
            <a:off x="822960" y="4526280"/>
            <a:ext cx="4663440" cy="274320"/>
          </a:xfrm>
          <a:prstGeom prst="rect">
            <a:avLst/>
          </a:prstGeom>
          <a:noFill/>
          <a:ln/>
        </p:spPr>
        <p:txBody>
          <a:bodyPr wrap="square" lIns="0" tIns="0" rIns="0" bIns="0" rtlCol="0" anchor="ctr"/>
          <a:lstStyle/>
          <a:p>
            <a:pPr indent="0" marL="0">
              <a:buNone/>
            </a:pPr>
            <a:r>
              <a:rPr lang="en-US" sz="1100" b="1" spc="200" kern="0" dirty="0">
                <a:solidFill>
                  <a:srgbClr val="14B8A6"/>
                </a:solidFill>
              </a:rPr>
              <a:t>MEMORY-BASED SEARCH MEANS</a:t>
            </a:r>
            <a:endParaRPr lang="en-US" sz="1100" dirty="0"/>
          </a:p>
        </p:txBody>
      </p:sp>
      <p:sp>
        <p:nvSpPr>
          <p:cNvPr id="8" name="Pill Recall alone"/>
          <p:cNvSpPr/>
          <p:nvPr/>
        </p:nvSpPr>
        <p:spPr>
          <a:xfrm>
            <a:off x="822960" y="4892040"/>
            <a:ext cx="1417320" cy="365760"/>
          </a:xfrm>
          <a:prstGeom prst="roundRect">
            <a:avLst>
              <a:gd name="adj" fmla="val 50000"/>
            </a:avLst>
          </a:prstGeom>
          <a:solidFill>
            <a:srgbClr val="E6FAF8"/>
          </a:solidFill>
          <a:ln w="6350">
            <a:solidFill>
              <a:srgbClr val="E6FAF8"/>
            </a:solidFill>
            <a:prstDash val="solid"/>
          </a:ln>
        </p:spPr>
      </p:sp>
      <p:sp>
        <p:nvSpPr>
          <p:cNvPr id="9" name="Text 7"/>
          <p:cNvSpPr txBox="1"/>
          <p:nvPr/>
        </p:nvSpPr>
        <p:spPr>
          <a:xfrm>
            <a:off x="822960" y="4892040"/>
            <a:ext cx="1417320" cy="365760"/>
          </a:xfrm>
          <a:prstGeom prst="rect">
            <a:avLst/>
          </a:prstGeom>
          <a:noFill/>
          <a:ln/>
        </p:spPr>
        <p:txBody>
          <a:bodyPr wrap="square" lIns="0" tIns="0" rIns="0" bIns="0" rtlCol="0" anchor="ctr"/>
          <a:lstStyle/>
          <a:p>
            <a:pPr algn="ctr" indent="0" marL="0">
              <a:buNone/>
            </a:pPr>
            <a:r>
              <a:rPr lang="en-US" sz="1100" b="1" dirty="0">
                <a:solidFill>
                  <a:srgbClr val="0B1F3A"/>
                </a:solidFill>
              </a:rPr>
              <a:t>Recall alone</a:t>
            </a:r>
            <a:endParaRPr lang="en-US" sz="1100" dirty="0"/>
          </a:p>
        </p:txBody>
      </p:sp>
      <p:sp>
        <p:nvSpPr>
          <p:cNvPr id="10" name="Pill Random checks"/>
          <p:cNvSpPr/>
          <p:nvPr/>
        </p:nvSpPr>
        <p:spPr>
          <a:xfrm>
            <a:off x="2377440" y="4892040"/>
            <a:ext cx="1508760" cy="365760"/>
          </a:xfrm>
          <a:prstGeom prst="roundRect">
            <a:avLst>
              <a:gd name="adj" fmla="val 50000"/>
            </a:avLst>
          </a:prstGeom>
          <a:solidFill>
            <a:srgbClr val="E6FAF8"/>
          </a:solidFill>
          <a:ln w="6350">
            <a:solidFill>
              <a:srgbClr val="E6FAF8"/>
            </a:solidFill>
            <a:prstDash val="solid"/>
          </a:ln>
        </p:spPr>
      </p:sp>
      <p:sp>
        <p:nvSpPr>
          <p:cNvPr id="11" name="Text 9"/>
          <p:cNvSpPr txBox="1"/>
          <p:nvPr/>
        </p:nvSpPr>
        <p:spPr>
          <a:xfrm>
            <a:off x="2377440" y="4892040"/>
            <a:ext cx="1508760" cy="365760"/>
          </a:xfrm>
          <a:prstGeom prst="rect">
            <a:avLst/>
          </a:prstGeom>
          <a:noFill/>
          <a:ln/>
        </p:spPr>
        <p:txBody>
          <a:bodyPr wrap="square" lIns="0" tIns="0" rIns="0" bIns="0" rtlCol="0" anchor="ctr"/>
          <a:lstStyle/>
          <a:p>
            <a:pPr algn="ctr" indent="0" marL="0">
              <a:buNone/>
            </a:pPr>
            <a:r>
              <a:rPr lang="en-US" sz="1100" b="1" dirty="0">
                <a:solidFill>
                  <a:srgbClr val="0B1F3A"/>
                </a:solidFill>
              </a:rPr>
              <a:t>Random checks</a:t>
            </a:r>
            <a:endParaRPr lang="en-US" sz="1100" dirty="0"/>
          </a:p>
        </p:txBody>
      </p:sp>
      <p:sp>
        <p:nvSpPr>
          <p:cNvPr id="12" name="Pill No explanation"/>
          <p:cNvSpPr/>
          <p:nvPr/>
        </p:nvSpPr>
        <p:spPr>
          <a:xfrm>
            <a:off x="4023360" y="4892040"/>
            <a:ext cx="1463040" cy="365760"/>
          </a:xfrm>
          <a:prstGeom prst="roundRect">
            <a:avLst>
              <a:gd name="adj" fmla="val 50000"/>
            </a:avLst>
          </a:prstGeom>
          <a:solidFill>
            <a:srgbClr val="E6FAF8"/>
          </a:solidFill>
          <a:ln w="6350">
            <a:solidFill>
              <a:srgbClr val="E6FAF8"/>
            </a:solidFill>
            <a:prstDash val="solid"/>
          </a:ln>
        </p:spPr>
      </p:sp>
      <p:sp>
        <p:nvSpPr>
          <p:cNvPr id="13" name="Text 11"/>
          <p:cNvSpPr txBox="1"/>
          <p:nvPr/>
        </p:nvSpPr>
        <p:spPr>
          <a:xfrm>
            <a:off x="4023360" y="4892040"/>
            <a:ext cx="1463040" cy="365760"/>
          </a:xfrm>
          <a:prstGeom prst="rect">
            <a:avLst/>
          </a:prstGeom>
          <a:noFill/>
          <a:ln/>
        </p:spPr>
        <p:txBody>
          <a:bodyPr wrap="square" lIns="0" tIns="0" rIns="0" bIns="0" rtlCol="0" anchor="ctr"/>
          <a:lstStyle/>
          <a:p>
            <a:pPr algn="ctr" indent="0" marL="0">
              <a:buNone/>
            </a:pPr>
            <a:r>
              <a:rPr lang="en-US" sz="1100" b="1" dirty="0">
                <a:solidFill>
                  <a:srgbClr val="0B1F3A"/>
                </a:solidFill>
              </a:rPr>
              <a:t>No explanation</a:t>
            </a:r>
            <a:endParaRPr lang="en-US" sz="1100" dirty="0"/>
          </a:p>
        </p:txBody>
      </p:sp>
      <p:sp>
        <p:nvSpPr>
          <p:cNvPr id="14" name="Objectives card"/>
          <p:cNvSpPr/>
          <p:nvPr/>
        </p:nvSpPr>
        <p:spPr>
          <a:xfrm>
            <a:off x="6035040" y="1554480"/>
            <a:ext cx="5605272" cy="3931920"/>
          </a:xfrm>
          <a:prstGeom prst="roundRect">
            <a:avLst>
              <a:gd name="adj" fmla="val 1860"/>
            </a:avLst>
          </a:prstGeom>
          <a:solidFill>
            <a:srgbClr val="FFFFFF"/>
          </a:solidFill>
          <a:ln w="12700">
            <a:solidFill>
              <a:srgbClr val="D8E0E8"/>
            </a:solidFill>
            <a:prstDash val="solid"/>
          </a:ln>
        </p:spPr>
      </p:sp>
      <p:sp>
        <p:nvSpPr>
          <p:cNvPr id="15" name="Text 13"/>
          <p:cNvSpPr txBox="1"/>
          <p:nvPr/>
        </p:nvSpPr>
        <p:spPr>
          <a:xfrm>
            <a:off x="6309360" y="1691640"/>
            <a:ext cx="5029200" cy="365760"/>
          </a:xfrm>
          <a:prstGeom prst="rect">
            <a:avLst/>
          </a:prstGeom>
          <a:noFill/>
          <a:ln/>
        </p:spPr>
        <p:txBody>
          <a:bodyPr wrap="square" lIns="0" tIns="0" rIns="0" bIns="0" rtlCol="0" anchor="ctr"/>
          <a:lstStyle/>
          <a:p>
            <a:pPr indent="0" marL="0">
              <a:buNone/>
            </a:pPr>
            <a:r>
              <a:rPr lang="en-US" sz="1800" b="1" dirty="0">
                <a:solidFill>
                  <a:srgbClr val="0B1F3A"/>
                </a:solidFill>
              </a:rPr>
              <a:t>Objectives</a:t>
            </a:r>
            <a:endParaRPr lang="en-US" sz="1800" dirty="0"/>
          </a:p>
        </p:txBody>
      </p:sp>
      <p:sp>
        <p:nvSpPr>
          <p:cNvPr id="16" name="Objective number 1"/>
          <p:cNvSpPr/>
          <p:nvPr/>
        </p:nvSpPr>
        <p:spPr>
          <a:xfrm>
            <a:off x="6309360" y="2231136"/>
            <a:ext cx="310896" cy="310896"/>
          </a:xfrm>
          <a:prstGeom prst="ellipse">
            <a:avLst/>
          </a:prstGeom>
          <a:solidFill>
            <a:srgbClr val="14B8A6"/>
          </a:solidFill>
          <a:ln w="12700">
            <a:solidFill>
              <a:srgbClr val="14B8A6"/>
            </a:solidFill>
            <a:prstDash val="solid"/>
          </a:ln>
        </p:spPr>
      </p:sp>
      <p:sp>
        <p:nvSpPr>
          <p:cNvPr id="17" name="Text 15"/>
          <p:cNvSpPr txBox="1"/>
          <p:nvPr/>
        </p:nvSpPr>
        <p:spPr>
          <a:xfrm>
            <a:off x="6309360" y="22311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8" name="Objective 1"/>
          <p:cNvSpPr txBox="1"/>
          <p:nvPr/>
        </p:nvSpPr>
        <p:spPr>
          <a:xfrm>
            <a:off x="6766560" y="2194560"/>
            <a:ext cx="4663440" cy="384048"/>
          </a:xfrm>
          <a:prstGeom prst="rect">
            <a:avLst/>
          </a:prstGeom>
          <a:noFill/>
          <a:ln/>
        </p:spPr>
        <p:txBody>
          <a:bodyPr wrap="square" lIns="0" tIns="0" rIns="0" bIns="0" rtlCol="0" anchor="ctr"/>
          <a:lstStyle/>
          <a:p>
            <a:pPr indent="0" marL="0">
              <a:buNone/>
            </a:pPr>
            <a:r>
              <a:rPr lang="en-US" sz="1200" dirty="0">
                <a:solidFill>
                  <a:srgbClr val="334155"/>
                </a:solidFill>
              </a:rPr>
              <a:t>Represent items, containers, activities and locations as FOL facts</a:t>
            </a:r>
            <a:endParaRPr lang="en-US" sz="1200" dirty="0"/>
          </a:p>
        </p:txBody>
      </p:sp>
      <p:sp>
        <p:nvSpPr>
          <p:cNvPr id="19" name="Objective number 2"/>
          <p:cNvSpPr/>
          <p:nvPr/>
        </p:nvSpPr>
        <p:spPr>
          <a:xfrm>
            <a:off x="6309360" y="2688336"/>
            <a:ext cx="310896" cy="310896"/>
          </a:xfrm>
          <a:prstGeom prst="ellipse">
            <a:avLst/>
          </a:prstGeom>
          <a:solidFill>
            <a:srgbClr val="14B8A6"/>
          </a:solidFill>
          <a:ln w="12700">
            <a:solidFill>
              <a:srgbClr val="14B8A6"/>
            </a:solidFill>
            <a:prstDash val="solid"/>
          </a:ln>
        </p:spPr>
      </p:sp>
      <p:sp>
        <p:nvSpPr>
          <p:cNvPr id="20" name="Text 18"/>
          <p:cNvSpPr txBox="1"/>
          <p:nvPr/>
        </p:nvSpPr>
        <p:spPr>
          <a:xfrm>
            <a:off x="6309360" y="26883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1" name="Objective 2"/>
          <p:cNvSpPr txBox="1"/>
          <p:nvPr/>
        </p:nvSpPr>
        <p:spPr>
          <a:xfrm>
            <a:off x="6766560" y="2651760"/>
            <a:ext cx="4663440" cy="384048"/>
          </a:xfrm>
          <a:prstGeom prst="rect">
            <a:avLst/>
          </a:prstGeom>
          <a:noFill/>
          <a:ln/>
        </p:spPr>
        <p:txBody>
          <a:bodyPr wrap="square" lIns="0" tIns="0" rIns="0" bIns="0" rtlCol="0" anchor="ctr"/>
          <a:lstStyle/>
          <a:p>
            <a:pPr indent="0" marL="0">
              <a:buNone/>
            </a:pPr>
            <a:r>
              <a:rPr lang="en-US" sz="1200" dirty="0">
                <a:solidFill>
                  <a:srgbClr val="334155"/>
                </a:solidFill>
              </a:rPr>
              <a:t>Encode domain knowledge as IF–THEN rules with certainty factors</a:t>
            </a:r>
            <a:endParaRPr lang="en-US" sz="1200" dirty="0"/>
          </a:p>
        </p:txBody>
      </p:sp>
      <p:sp>
        <p:nvSpPr>
          <p:cNvPr id="22" name="Objective number 3"/>
          <p:cNvSpPr/>
          <p:nvPr/>
        </p:nvSpPr>
        <p:spPr>
          <a:xfrm>
            <a:off x="6309360" y="3145536"/>
            <a:ext cx="310896" cy="310896"/>
          </a:xfrm>
          <a:prstGeom prst="ellipse">
            <a:avLst/>
          </a:prstGeom>
          <a:solidFill>
            <a:srgbClr val="14B8A6"/>
          </a:solidFill>
          <a:ln w="12700">
            <a:solidFill>
              <a:srgbClr val="14B8A6"/>
            </a:solidFill>
            <a:prstDash val="solid"/>
          </a:ln>
        </p:spPr>
      </p:sp>
      <p:sp>
        <p:nvSpPr>
          <p:cNvPr id="23" name="Text 21"/>
          <p:cNvSpPr txBox="1"/>
          <p:nvPr/>
        </p:nvSpPr>
        <p:spPr>
          <a:xfrm>
            <a:off x="6309360" y="3145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4" name="Objective 3"/>
          <p:cNvSpPr txBox="1"/>
          <p:nvPr/>
        </p:nvSpPr>
        <p:spPr>
          <a:xfrm>
            <a:off x="6766560" y="3108960"/>
            <a:ext cx="4663440" cy="384048"/>
          </a:xfrm>
          <a:prstGeom prst="rect">
            <a:avLst/>
          </a:prstGeom>
          <a:noFill/>
          <a:ln/>
        </p:spPr>
        <p:txBody>
          <a:bodyPr wrap="square" lIns="0" tIns="0" rIns="0" bIns="0" rtlCol="0" anchor="ctr"/>
          <a:lstStyle/>
          <a:p>
            <a:pPr indent="0" marL="0">
              <a:buNone/>
            </a:pPr>
            <a:r>
              <a:rPr lang="en-US" sz="1200" dirty="0">
                <a:solidFill>
                  <a:srgbClr val="334155"/>
                </a:solidFill>
              </a:rPr>
              <a:t>Implement backward chaining from location hypotheses to facts</a:t>
            </a:r>
            <a:endParaRPr lang="en-US" sz="1200" dirty="0"/>
          </a:p>
        </p:txBody>
      </p:sp>
      <p:sp>
        <p:nvSpPr>
          <p:cNvPr id="25" name="Objective number 4"/>
          <p:cNvSpPr/>
          <p:nvPr/>
        </p:nvSpPr>
        <p:spPr>
          <a:xfrm>
            <a:off x="6309360" y="3602736"/>
            <a:ext cx="310896" cy="310896"/>
          </a:xfrm>
          <a:prstGeom prst="ellipse">
            <a:avLst/>
          </a:prstGeom>
          <a:solidFill>
            <a:srgbClr val="14B8A6"/>
          </a:solidFill>
          <a:ln w="12700">
            <a:solidFill>
              <a:srgbClr val="14B8A6"/>
            </a:solidFill>
            <a:prstDash val="solid"/>
          </a:ln>
        </p:spPr>
      </p:sp>
      <p:sp>
        <p:nvSpPr>
          <p:cNvPr id="26" name="Text 24"/>
          <p:cNvSpPr txBox="1"/>
          <p:nvPr/>
        </p:nvSpPr>
        <p:spPr>
          <a:xfrm>
            <a:off x="6309360" y="36027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7" name="Objective 4"/>
          <p:cNvSpPr txBox="1"/>
          <p:nvPr/>
        </p:nvSpPr>
        <p:spPr>
          <a:xfrm>
            <a:off x="6766560" y="3566160"/>
            <a:ext cx="4663440" cy="384048"/>
          </a:xfrm>
          <a:prstGeom prst="rect">
            <a:avLst/>
          </a:prstGeom>
          <a:noFill/>
          <a:ln/>
        </p:spPr>
        <p:txBody>
          <a:bodyPr wrap="square" lIns="0" tIns="0" rIns="0" bIns="0" rtlCol="0" anchor="ctr"/>
          <a:lstStyle/>
          <a:p>
            <a:pPr indent="0" marL="0">
              <a:buNone/>
            </a:pPr>
            <a:r>
              <a:rPr lang="en-US" sz="1200" dirty="0">
                <a:solidFill>
                  <a:srgbClr val="334155"/>
                </a:solidFill>
              </a:rPr>
              <a:t>Ask only the questions needed to prove the current hypothesis</a:t>
            </a:r>
            <a:endParaRPr lang="en-US" sz="1200" dirty="0"/>
          </a:p>
        </p:txBody>
      </p:sp>
      <p:sp>
        <p:nvSpPr>
          <p:cNvPr id="28" name="Objective number 5"/>
          <p:cNvSpPr/>
          <p:nvPr/>
        </p:nvSpPr>
        <p:spPr>
          <a:xfrm>
            <a:off x="6309360" y="4059936"/>
            <a:ext cx="310896" cy="310896"/>
          </a:xfrm>
          <a:prstGeom prst="ellipse">
            <a:avLst/>
          </a:prstGeom>
          <a:solidFill>
            <a:srgbClr val="14B8A6"/>
          </a:solidFill>
          <a:ln w="12700">
            <a:solidFill>
              <a:srgbClr val="14B8A6"/>
            </a:solidFill>
            <a:prstDash val="solid"/>
          </a:ln>
        </p:spPr>
      </p:sp>
      <p:sp>
        <p:nvSpPr>
          <p:cNvPr id="29" name="Text 27"/>
          <p:cNvSpPr txBox="1"/>
          <p:nvPr/>
        </p:nvSpPr>
        <p:spPr>
          <a:xfrm>
            <a:off x="6309360" y="40599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30" name="Objective 5"/>
          <p:cNvSpPr txBox="1"/>
          <p:nvPr/>
        </p:nvSpPr>
        <p:spPr>
          <a:xfrm>
            <a:off x="6766560" y="4023360"/>
            <a:ext cx="4663440" cy="384048"/>
          </a:xfrm>
          <a:prstGeom prst="rect">
            <a:avLst/>
          </a:prstGeom>
          <a:noFill/>
          <a:ln/>
        </p:spPr>
        <p:txBody>
          <a:bodyPr wrap="square" lIns="0" tIns="0" rIns="0" bIns="0" rtlCol="0" anchor="ctr"/>
          <a:lstStyle/>
          <a:p>
            <a:pPr indent="0" marL="0">
              <a:buNone/>
            </a:pPr>
            <a:r>
              <a:rPr lang="en-US" sz="1200" dirty="0">
                <a:solidFill>
                  <a:srgbClr val="334155"/>
                </a:solidFill>
              </a:rPr>
              <a:t>Cache answers in a session fact store; never repeat a question</a:t>
            </a:r>
            <a:endParaRPr lang="en-US" sz="1200" dirty="0"/>
          </a:p>
        </p:txBody>
      </p:sp>
      <p:sp>
        <p:nvSpPr>
          <p:cNvPr id="31" name="Objective number 6"/>
          <p:cNvSpPr/>
          <p:nvPr/>
        </p:nvSpPr>
        <p:spPr>
          <a:xfrm>
            <a:off x="6309360" y="4517136"/>
            <a:ext cx="310896" cy="310896"/>
          </a:xfrm>
          <a:prstGeom prst="ellipse">
            <a:avLst/>
          </a:prstGeom>
          <a:solidFill>
            <a:srgbClr val="14B8A6"/>
          </a:solidFill>
          <a:ln w="12700">
            <a:solidFill>
              <a:srgbClr val="14B8A6"/>
            </a:solidFill>
            <a:prstDash val="solid"/>
          </a:ln>
        </p:spPr>
      </p:sp>
      <p:sp>
        <p:nvSpPr>
          <p:cNvPr id="32" name="Text 30"/>
          <p:cNvSpPr txBox="1"/>
          <p:nvPr/>
        </p:nvSpPr>
        <p:spPr>
          <a:xfrm>
            <a:off x="6309360" y="45171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6</a:t>
            </a:r>
            <a:endParaRPr lang="en-US" sz="1100" dirty="0"/>
          </a:p>
        </p:txBody>
      </p:sp>
      <p:sp>
        <p:nvSpPr>
          <p:cNvPr id="33" name="Objective 6"/>
          <p:cNvSpPr txBox="1"/>
          <p:nvPr/>
        </p:nvSpPr>
        <p:spPr>
          <a:xfrm>
            <a:off x="6766560" y="4480560"/>
            <a:ext cx="4663440" cy="384048"/>
          </a:xfrm>
          <a:prstGeom prst="rect">
            <a:avLst/>
          </a:prstGeom>
          <a:noFill/>
          <a:ln/>
        </p:spPr>
        <p:txBody>
          <a:bodyPr wrap="square" lIns="0" tIns="0" rIns="0" bIns="0" rtlCol="0" anchor="ctr"/>
          <a:lstStyle/>
          <a:p>
            <a:pPr indent="0" marL="0">
              <a:buNone/>
            </a:pPr>
            <a:r>
              <a:rPr lang="en-US" sz="1200" dirty="0">
                <a:solidFill>
                  <a:srgbClr val="334155"/>
                </a:solidFill>
              </a:rPr>
              <a:t>Report location, confidence, rule applied and alternatives</a:t>
            </a:r>
            <a:endParaRPr lang="en-US" sz="1200" dirty="0"/>
          </a:p>
        </p:txBody>
      </p:sp>
      <p:sp>
        <p:nvSpPr>
          <p:cNvPr id="34" name="Objective number 7"/>
          <p:cNvSpPr/>
          <p:nvPr/>
        </p:nvSpPr>
        <p:spPr>
          <a:xfrm>
            <a:off x="6309360" y="4974336"/>
            <a:ext cx="310896" cy="310896"/>
          </a:xfrm>
          <a:prstGeom prst="ellipse">
            <a:avLst/>
          </a:prstGeom>
          <a:solidFill>
            <a:srgbClr val="14B8A6"/>
          </a:solidFill>
          <a:ln w="12700">
            <a:solidFill>
              <a:srgbClr val="14B8A6"/>
            </a:solidFill>
            <a:prstDash val="solid"/>
          </a:ln>
        </p:spPr>
      </p:sp>
      <p:sp>
        <p:nvSpPr>
          <p:cNvPr id="35" name="Text 33"/>
          <p:cNvSpPr txBox="1"/>
          <p:nvPr/>
        </p:nvSpPr>
        <p:spPr>
          <a:xfrm>
            <a:off x="6309360" y="49743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7</a:t>
            </a:r>
            <a:endParaRPr lang="en-US" sz="1100" dirty="0"/>
          </a:p>
        </p:txBody>
      </p:sp>
      <p:sp>
        <p:nvSpPr>
          <p:cNvPr id="36" name="Objective 7"/>
          <p:cNvSpPr txBox="1"/>
          <p:nvPr/>
        </p:nvSpPr>
        <p:spPr>
          <a:xfrm>
            <a:off x="6766560" y="4937760"/>
            <a:ext cx="4663440" cy="384048"/>
          </a:xfrm>
          <a:prstGeom prst="rect">
            <a:avLst/>
          </a:prstGeom>
          <a:noFill/>
          <a:ln/>
        </p:spPr>
        <p:txBody>
          <a:bodyPr wrap="square" lIns="0" tIns="0" rIns="0" bIns="0" rtlCol="0" anchor="ctr"/>
          <a:lstStyle/>
          <a:p>
            <a:pPr indent="0" marL="0">
              <a:buNone/>
            </a:pPr>
            <a:r>
              <a:rPr lang="en-US" sz="1200" dirty="0">
                <a:solidFill>
                  <a:srgbClr val="334155"/>
                </a:solidFill>
              </a:rPr>
              <a:t>Show a step-by-step reasoning trace for every conclusion</a:t>
            </a:r>
            <a:endParaRPr lang="en-US" sz="1200" dirty="0"/>
          </a:p>
        </p:txBody>
      </p:sp>
      <p:sp>
        <p:nvSpPr>
          <p:cNvPr id="37" name="Goal banner"/>
          <p:cNvSpPr/>
          <p:nvPr/>
        </p:nvSpPr>
        <p:spPr>
          <a:xfrm>
            <a:off x="548640" y="5715000"/>
            <a:ext cx="11091672" cy="594360"/>
          </a:xfrm>
          <a:prstGeom prst="roundRect">
            <a:avLst>
              <a:gd name="adj" fmla="val 12308"/>
            </a:avLst>
          </a:prstGeom>
          <a:solidFill>
            <a:srgbClr val="E6FAF8"/>
          </a:solidFill>
          <a:ln w="12700">
            <a:solidFill>
              <a:srgbClr val="14B8A6"/>
            </a:solidFill>
            <a:prstDash val="solid"/>
          </a:ln>
        </p:spPr>
      </p:sp>
      <p:sp>
        <p:nvSpPr>
          <p:cNvPr id="38" name="Text 36"/>
          <p:cNvSpPr txBox="1"/>
          <p:nvPr/>
        </p:nvSpPr>
        <p:spPr>
          <a:xfrm>
            <a:off x="777240" y="5715000"/>
            <a:ext cx="10698480" cy="594360"/>
          </a:xfrm>
          <a:prstGeom prst="rect">
            <a:avLst/>
          </a:prstGeom>
          <a:noFill/>
          <a:ln/>
        </p:spPr>
        <p:txBody>
          <a:bodyPr wrap="square" lIns="0" tIns="0" rIns="0" bIns="0" rtlCol="0" anchor="ctr"/>
          <a:lstStyle/>
          <a:p>
            <a:pPr indent="0" marL="0">
              <a:buNone/>
            </a:pPr>
            <a:r>
              <a:rPr lang="en-US" sz="1400" i="1" dirty="0">
                <a:solidFill>
                  <a:srgbClr val="0B1F3A"/>
                </a:solidFill>
              </a:rPr>
              <a:t>Goal: recommend the most probable location of a misplaced item, and show exactly why.</a:t>
            </a:r>
            <a:endParaRPr lang="en-US" sz="14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594360"/>
          </a:xfrm>
          <a:prstGeom prst="rect">
            <a:avLst/>
          </a:prstGeom>
          <a:noFill/>
          <a:ln/>
        </p:spPr>
        <p:txBody>
          <a:bodyPr wrap="square" lIns="0" tIns="0" rIns="0" bIns="0" rtlCol="0" anchor="ctr"/>
          <a:lstStyle/>
          <a:p>
            <a:pPr algn="l" indent="0" marL="0">
              <a:buNone/>
            </a:pPr>
            <a:r>
              <a:rPr lang="en-US" sz="3000" b="1" dirty="0">
                <a:solidFill>
                  <a:srgbClr val="0B1F3A"/>
                </a:solidFill>
              </a:rPr>
              <a:t>Literature Review</a:t>
            </a:r>
            <a:endParaRPr lang="en-US" sz="3000" dirty="0"/>
          </a:p>
        </p:txBody>
      </p:sp>
      <p:sp>
        <p:nvSpPr>
          <p:cNvPr id="3" name="Subtitle"/>
          <p:cNvSpPr txBox="1"/>
          <p:nvPr/>
        </p:nvSpPr>
        <p:spPr>
          <a:xfrm>
            <a:off x="548640" y="914400"/>
            <a:ext cx="11064240" cy="365760"/>
          </a:xfrm>
          <a:prstGeom prst="rect">
            <a:avLst/>
          </a:prstGeom>
          <a:noFill/>
          <a:ln/>
        </p:spPr>
        <p:txBody>
          <a:bodyPr wrap="square" lIns="0" tIns="0" rIns="0" bIns="0" rtlCol="0" anchor="ctr"/>
          <a:lstStyle/>
          <a:p>
            <a:pPr indent="0" marL="0">
              <a:buNone/>
            </a:pPr>
            <a:r>
              <a:rPr lang="en-US" sz="1500" dirty="0">
                <a:solidFill>
                  <a:srgbClr val="14B8A6"/>
                </a:solidFill>
              </a:rPr>
              <a:t>Knowledge-Based Systems, Rules, Chaining and Certainty</a:t>
            </a:r>
            <a:endParaRPr lang="en-US" sz="1500" dirty="0"/>
          </a:p>
        </p:txBody>
      </p:sp>
      <p:sp>
        <p:nvSpPr>
          <p:cNvPr id="4" name="Literature card 1"/>
          <p:cNvSpPr/>
          <p:nvPr/>
        </p:nvSpPr>
        <p:spPr>
          <a:xfrm>
            <a:off x="548640" y="1554480"/>
            <a:ext cx="2651760" cy="1783080"/>
          </a:xfrm>
          <a:prstGeom prst="roundRect">
            <a:avLst>
              <a:gd name="adj" fmla="val 4103"/>
            </a:avLst>
          </a:prstGeom>
          <a:solidFill>
            <a:srgbClr val="FFFFFF"/>
          </a:solidFill>
          <a:ln w="12700">
            <a:solidFill>
              <a:srgbClr val="D8E0E8"/>
            </a:solidFill>
            <a:prstDash val="solid"/>
          </a:ln>
        </p:spPr>
      </p:sp>
      <p:sp>
        <p:nvSpPr>
          <p:cNvPr id="5" name="Icon circle 1"/>
          <p:cNvSpPr/>
          <p:nvPr/>
        </p:nvSpPr>
        <p:spPr>
          <a:xfrm>
            <a:off x="731520" y="1691640"/>
            <a:ext cx="384048" cy="384048"/>
          </a:xfrm>
          <a:prstGeom prst="ellipse">
            <a:avLst/>
          </a:prstGeom>
          <a:solidFill>
            <a:srgbClr val="E6FAF8"/>
          </a:solidFill>
          <a:ln w="12700">
            <a:solidFill>
              <a:srgbClr val="E6FAF8"/>
            </a:solidFill>
            <a:prstDash val="solid"/>
          </a:ln>
        </p:spPr>
      </p:sp>
      <p:pic>
        <p:nvPicPr>
          <p:cNvPr id="6" name="Image 0" descr="Expert Systems icon">    </p:cNvPr>
          <p:cNvPicPr>
            <a:picLocks noChangeAspect="1"/>
          </p:cNvPicPr>
          <p:nvPr/>
        </p:nvPicPr>
        <p:blipFill>
          <a:blip r:embed="rId1"/>
          <a:stretch>
            <a:fillRect/>
          </a:stretch>
        </p:blipFill>
        <p:spPr>
          <a:xfrm>
            <a:off x="822960" y="1783080"/>
            <a:ext cx="201168" cy="201168"/>
          </a:xfrm>
          <a:prstGeom prst="rect">
            <a:avLst/>
          </a:prstGeom>
        </p:spPr>
      </p:pic>
      <p:sp>
        <p:nvSpPr>
          <p:cNvPr id="7" name="Text 4"/>
          <p:cNvSpPr txBox="1"/>
          <p:nvPr/>
        </p:nvSpPr>
        <p:spPr>
          <a:xfrm>
            <a:off x="1234440" y="1691640"/>
            <a:ext cx="1828800" cy="384048"/>
          </a:xfrm>
          <a:prstGeom prst="rect">
            <a:avLst/>
          </a:prstGeom>
          <a:noFill/>
          <a:ln/>
        </p:spPr>
        <p:txBody>
          <a:bodyPr wrap="square" lIns="0" tIns="0" rIns="0" bIns="0" rtlCol="0" anchor="ctr"/>
          <a:lstStyle/>
          <a:p>
            <a:pPr indent="0" marL="0">
              <a:buNone/>
            </a:pPr>
            <a:r>
              <a:rPr lang="en-US" sz="1300" b="1" dirty="0">
                <a:solidFill>
                  <a:srgbClr val="0B1F3A"/>
                </a:solidFill>
              </a:rPr>
              <a:t>Expert Systems</a:t>
            </a:r>
            <a:endParaRPr lang="en-US" sz="1300" dirty="0"/>
          </a:p>
        </p:txBody>
      </p:sp>
      <p:sp>
        <p:nvSpPr>
          <p:cNvPr id="8" name="Literature text 1"/>
          <p:cNvSpPr txBox="1"/>
          <p:nvPr/>
        </p:nvSpPr>
        <p:spPr>
          <a:xfrm>
            <a:off x="731520" y="2148840"/>
            <a:ext cx="2331720" cy="1097280"/>
          </a:xfrm>
          <a:prstGeom prst="rect">
            <a:avLst/>
          </a:prstGeom>
          <a:noFill/>
          <a:ln/>
        </p:spPr>
        <p:txBody>
          <a:bodyPr wrap="square" lIns="0" tIns="0" rIns="0" bIns="0" rtlCol="0" anchor="t"/>
          <a:lstStyle/>
          <a:p>
            <a:pPr indent="0" marL="0">
              <a:buNone/>
            </a:pPr>
            <a:r>
              <a:rPr lang="en-US" sz="1100" dirty="0">
                <a:solidFill>
                  <a:srgbClr val="334155"/>
                </a:solidFill>
              </a:rPr>
              <a:t>A knowledge base, inference engine, working memory and explanation facility, as used in diagnosis and fault-finding.</a:t>
            </a:r>
            <a:endParaRPr lang="en-US" sz="1100" dirty="0"/>
          </a:p>
        </p:txBody>
      </p:sp>
      <p:sp>
        <p:nvSpPr>
          <p:cNvPr id="9" name="Literature card 2"/>
          <p:cNvSpPr/>
          <p:nvPr/>
        </p:nvSpPr>
        <p:spPr>
          <a:xfrm>
            <a:off x="3383280" y="1554480"/>
            <a:ext cx="2651760" cy="1783080"/>
          </a:xfrm>
          <a:prstGeom prst="roundRect">
            <a:avLst>
              <a:gd name="adj" fmla="val 4103"/>
            </a:avLst>
          </a:prstGeom>
          <a:solidFill>
            <a:srgbClr val="FFFFFF"/>
          </a:solidFill>
          <a:ln w="12700">
            <a:solidFill>
              <a:srgbClr val="D8E0E8"/>
            </a:solidFill>
            <a:prstDash val="solid"/>
          </a:ln>
        </p:spPr>
      </p:sp>
      <p:sp>
        <p:nvSpPr>
          <p:cNvPr id="10" name="Icon circle 2"/>
          <p:cNvSpPr/>
          <p:nvPr/>
        </p:nvSpPr>
        <p:spPr>
          <a:xfrm>
            <a:off x="3566160" y="1691640"/>
            <a:ext cx="384048" cy="384048"/>
          </a:xfrm>
          <a:prstGeom prst="ellipse">
            <a:avLst/>
          </a:prstGeom>
          <a:solidFill>
            <a:srgbClr val="E6FAF8"/>
          </a:solidFill>
          <a:ln w="12700">
            <a:solidFill>
              <a:srgbClr val="E6FAF8"/>
            </a:solidFill>
            <a:prstDash val="solid"/>
          </a:ln>
        </p:spPr>
      </p:sp>
      <p:pic>
        <p:nvPicPr>
          <p:cNvPr id="11" name="Image 1" descr="Rules and FOL icon">    </p:cNvPr>
          <p:cNvPicPr>
            <a:picLocks noChangeAspect="1"/>
          </p:cNvPicPr>
          <p:nvPr/>
        </p:nvPicPr>
        <p:blipFill>
          <a:blip r:embed="rId2"/>
          <a:stretch>
            <a:fillRect/>
          </a:stretch>
        </p:blipFill>
        <p:spPr>
          <a:xfrm>
            <a:off x="3657600" y="1783080"/>
            <a:ext cx="201168" cy="201168"/>
          </a:xfrm>
          <a:prstGeom prst="rect">
            <a:avLst/>
          </a:prstGeom>
        </p:spPr>
      </p:pic>
      <p:sp>
        <p:nvSpPr>
          <p:cNvPr id="12" name="Text 8"/>
          <p:cNvSpPr txBox="1"/>
          <p:nvPr/>
        </p:nvSpPr>
        <p:spPr>
          <a:xfrm>
            <a:off x="4069080" y="1691640"/>
            <a:ext cx="1828800" cy="384048"/>
          </a:xfrm>
          <a:prstGeom prst="rect">
            <a:avLst/>
          </a:prstGeom>
          <a:noFill/>
          <a:ln/>
        </p:spPr>
        <p:txBody>
          <a:bodyPr wrap="square" lIns="0" tIns="0" rIns="0" bIns="0" rtlCol="0" anchor="ctr"/>
          <a:lstStyle/>
          <a:p>
            <a:pPr indent="0" marL="0">
              <a:buNone/>
            </a:pPr>
            <a:r>
              <a:rPr lang="en-US" sz="1300" b="1" dirty="0">
                <a:solidFill>
                  <a:srgbClr val="0B1F3A"/>
                </a:solidFill>
              </a:rPr>
              <a:t>Rules and FOL</a:t>
            </a:r>
            <a:endParaRPr lang="en-US" sz="1300" dirty="0"/>
          </a:p>
        </p:txBody>
      </p:sp>
      <p:sp>
        <p:nvSpPr>
          <p:cNvPr id="13" name="Literature text 2"/>
          <p:cNvSpPr txBox="1"/>
          <p:nvPr/>
        </p:nvSpPr>
        <p:spPr>
          <a:xfrm>
            <a:off x="3566160" y="2148840"/>
            <a:ext cx="2331720" cy="1097280"/>
          </a:xfrm>
          <a:prstGeom prst="rect">
            <a:avLst/>
          </a:prstGeom>
          <a:noFill/>
          <a:ln/>
        </p:spPr>
        <p:txBody>
          <a:bodyPr wrap="square" lIns="0" tIns="0" rIns="0" bIns="0" rtlCol="0" anchor="t"/>
          <a:lstStyle/>
          <a:p>
            <a:pPr indent="0" marL="0">
              <a:buNone/>
            </a:pPr>
            <a:r>
              <a:rPr lang="en-US" sz="1100" dirty="0">
                <a:solidFill>
                  <a:srgbClr val="334155"/>
                </a:solidFill>
              </a:rPr>
              <a:t>IF–THEN rules with variables, written as Horn clauses, cover many items at once. They underpin Prolog (Kowalski, 1974).</a:t>
            </a:r>
            <a:endParaRPr lang="en-US" sz="1100" dirty="0"/>
          </a:p>
        </p:txBody>
      </p:sp>
      <p:sp>
        <p:nvSpPr>
          <p:cNvPr id="14" name="Literature card 3"/>
          <p:cNvSpPr/>
          <p:nvPr/>
        </p:nvSpPr>
        <p:spPr>
          <a:xfrm>
            <a:off x="6217920" y="1554480"/>
            <a:ext cx="2651760" cy="1783080"/>
          </a:xfrm>
          <a:prstGeom prst="roundRect">
            <a:avLst>
              <a:gd name="adj" fmla="val 4103"/>
            </a:avLst>
          </a:prstGeom>
          <a:solidFill>
            <a:srgbClr val="FFFFFF"/>
          </a:solidFill>
          <a:ln w="12700">
            <a:solidFill>
              <a:srgbClr val="D8E0E8"/>
            </a:solidFill>
            <a:prstDash val="solid"/>
          </a:ln>
        </p:spPr>
      </p:sp>
      <p:sp>
        <p:nvSpPr>
          <p:cNvPr id="15" name="Icon circle 3"/>
          <p:cNvSpPr/>
          <p:nvPr/>
        </p:nvSpPr>
        <p:spPr>
          <a:xfrm>
            <a:off x="6400800" y="1691640"/>
            <a:ext cx="384048" cy="384048"/>
          </a:xfrm>
          <a:prstGeom prst="ellipse">
            <a:avLst/>
          </a:prstGeom>
          <a:solidFill>
            <a:srgbClr val="E6FAF8"/>
          </a:solidFill>
          <a:ln w="12700">
            <a:solidFill>
              <a:srgbClr val="E6FAF8"/>
            </a:solidFill>
            <a:prstDash val="solid"/>
          </a:ln>
        </p:spPr>
      </p:sp>
      <p:pic>
        <p:nvPicPr>
          <p:cNvPr id="16" name="Image 2" descr="Chaining and Unification icon">    </p:cNvPr>
          <p:cNvPicPr>
            <a:picLocks noChangeAspect="1"/>
          </p:cNvPicPr>
          <p:nvPr/>
        </p:nvPicPr>
        <p:blipFill>
          <a:blip r:embed="rId3"/>
          <a:stretch>
            <a:fillRect/>
          </a:stretch>
        </p:blipFill>
        <p:spPr>
          <a:xfrm>
            <a:off x="6492240" y="1783080"/>
            <a:ext cx="201168" cy="201168"/>
          </a:xfrm>
          <a:prstGeom prst="rect">
            <a:avLst/>
          </a:prstGeom>
        </p:spPr>
      </p:pic>
      <p:sp>
        <p:nvSpPr>
          <p:cNvPr id="17" name="Text 12"/>
          <p:cNvSpPr txBox="1"/>
          <p:nvPr/>
        </p:nvSpPr>
        <p:spPr>
          <a:xfrm>
            <a:off x="6903720" y="1691640"/>
            <a:ext cx="1828800" cy="384048"/>
          </a:xfrm>
          <a:prstGeom prst="rect">
            <a:avLst/>
          </a:prstGeom>
          <a:noFill/>
          <a:ln/>
        </p:spPr>
        <p:txBody>
          <a:bodyPr wrap="square" lIns="0" tIns="0" rIns="0" bIns="0" rtlCol="0" anchor="ctr"/>
          <a:lstStyle/>
          <a:p>
            <a:pPr indent="0" marL="0">
              <a:buNone/>
            </a:pPr>
            <a:r>
              <a:rPr lang="en-US" sz="1300" b="1" dirty="0">
                <a:solidFill>
                  <a:srgbClr val="0B1F3A"/>
                </a:solidFill>
              </a:rPr>
              <a:t>Chaining and Unification</a:t>
            </a:r>
            <a:endParaRPr lang="en-US" sz="1300" dirty="0"/>
          </a:p>
        </p:txBody>
      </p:sp>
      <p:sp>
        <p:nvSpPr>
          <p:cNvPr id="18" name="Literature text 3"/>
          <p:cNvSpPr txBox="1"/>
          <p:nvPr/>
        </p:nvSpPr>
        <p:spPr>
          <a:xfrm>
            <a:off x="6400800" y="2148840"/>
            <a:ext cx="2331720" cy="1097280"/>
          </a:xfrm>
          <a:prstGeom prst="rect">
            <a:avLst/>
          </a:prstGeom>
          <a:noFill/>
          <a:ln/>
        </p:spPr>
        <p:txBody>
          <a:bodyPr wrap="square" lIns="0" tIns="0" rIns="0" bIns="0" rtlCol="0" anchor="t"/>
          <a:lstStyle/>
          <a:p>
            <a:pPr indent="0" marL="0">
              <a:buNone/>
            </a:pPr>
            <a:r>
              <a:rPr lang="en-US" sz="1100" dirty="0">
                <a:solidFill>
                  <a:srgbClr val="334155"/>
                </a:solidFill>
              </a:rPr>
              <a:t>Backward chaining is goal-driven and asks only what the hypothesis needs. Unification binds rule variables to the item.</a:t>
            </a:r>
            <a:endParaRPr lang="en-US" sz="1100" dirty="0"/>
          </a:p>
        </p:txBody>
      </p:sp>
      <p:sp>
        <p:nvSpPr>
          <p:cNvPr id="19" name="Literature card 4"/>
          <p:cNvSpPr/>
          <p:nvPr/>
        </p:nvSpPr>
        <p:spPr>
          <a:xfrm>
            <a:off x="9052560" y="1554480"/>
            <a:ext cx="2651760" cy="1783080"/>
          </a:xfrm>
          <a:prstGeom prst="roundRect">
            <a:avLst>
              <a:gd name="adj" fmla="val 4103"/>
            </a:avLst>
          </a:prstGeom>
          <a:solidFill>
            <a:srgbClr val="FFFFFF"/>
          </a:solidFill>
          <a:ln w="12700">
            <a:solidFill>
              <a:srgbClr val="D8E0E8"/>
            </a:solidFill>
            <a:prstDash val="solid"/>
          </a:ln>
        </p:spPr>
      </p:sp>
      <p:sp>
        <p:nvSpPr>
          <p:cNvPr id="20" name="Icon circle 4"/>
          <p:cNvSpPr/>
          <p:nvPr/>
        </p:nvSpPr>
        <p:spPr>
          <a:xfrm>
            <a:off x="9235440" y="1691640"/>
            <a:ext cx="384048" cy="384048"/>
          </a:xfrm>
          <a:prstGeom prst="ellipse">
            <a:avLst/>
          </a:prstGeom>
          <a:solidFill>
            <a:srgbClr val="E6FAF8"/>
          </a:solidFill>
          <a:ln w="12700">
            <a:solidFill>
              <a:srgbClr val="E6FAF8"/>
            </a:solidFill>
            <a:prstDash val="solid"/>
          </a:ln>
        </p:spPr>
      </p:sp>
      <p:pic>
        <p:nvPicPr>
          <p:cNvPr id="21" name="Image 3" descr="Certainty Factors icon">    </p:cNvPr>
          <p:cNvPicPr>
            <a:picLocks noChangeAspect="1"/>
          </p:cNvPicPr>
          <p:nvPr/>
        </p:nvPicPr>
        <p:blipFill>
          <a:blip r:embed="rId4"/>
          <a:stretch>
            <a:fillRect/>
          </a:stretch>
        </p:blipFill>
        <p:spPr>
          <a:xfrm>
            <a:off x="9326880" y="1783080"/>
            <a:ext cx="201168" cy="201168"/>
          </a:xfrm>
          <a:prstGeom prst="rect">
            <a:avLst/>
          </a:prstGeom>
        </p:spPr>
      </p:pic>
      <p:sp>
        <p:nvSpPr>
          <p:cNvPr id="22" name="Text 16"/>
          <p:cNvSpPr txBox="1"/>
          <p:nvPr/>
        </p:nvSpPr>
        <p:spPr>
          <a:xfrm>
            <a:off x="9738360" y="1691640"/>
            <a:ext cx="1828800" cy="384048"/>
          </a:xfrm>
          <a:prstGeom prst="rect">
            <a:avLst/>
          </a:prstGeom>
          <a:noFill/>
          <a:ln/>
        </p:spPr>
        <p:txBody>
          <a:bodyPr wrap="square" lIns="0" tIns="0" rIns="0" bIns="0" rtlCol="0" anchor="ctr"/>
          <a:lstStyle/>
          <a:p>
            <a:pPr indent="0" marL="0">
              <a:buNone/>
            </a:pPr>
            <a:r>
              <a:rPr lang="en-US" sz="1300" b="1" dirty="0">
                <a:solidFill>
                  <a:srgbClr val="0B1F3A"/>
                </a:solidFill>
              </a:rPr>
              <a:t>Certainty Factors</a:t>
            </a:r>
            <a:endParaRPr lang="en-US" sz="1300" dirty="0"/>
          </a:p>
        </p:txBody>
      </p:sp>
      <p:sp>
        <p:nvSpPr>
          <p:cNvPr id="23" name="Literature text 4"/>
          <p:cNvSpPr txBox="1"/>
          <p:nvPr/>
        </p:nvSpPr>
        <p:spPr>
          <a:xfrm>
            <a:off x="9235440" y="2148840"/>
            <a:ext cx="2331720" cy="1097280"/>
          </a:xfrm>
          <a:prstGeom prst="rect">
            <a:avLst/>
          </a:prstGeom>
          <a:noFill/>
          <a:ln/>
        </p:spPr>
        <p:txBody>
          <a:bodyPr wrap="square" lIns="0" tIns="0" rIns="0" bIns="0" rtlCol="0" anchor="t"/>
          <a:lstStyle/>
          <a:p>
            <a:pPr indent="0" marL="0">
              <a:buNone/>
            </a:pPr>
            <a:r>
              <a:rPr lang="en-US" sz="1100" dirty="0">
                <a:solidFill>
                  <a:srgbClr val="334155"/>
                </a:solidFill>
              </a:rPr>
              <a:t>MYCIN (Shortliffe and Buchanan, 1975) scored rule strength from 0 to 1, so strong conclusions outrank weak ones.</a:t>
            </a:r>
            <a:endParaRPr lang="en-US" sz="1100" dirty="0"/>
          </a:p>
        </p:txBody>
      </p:sp>
      <p:graphicFrame>
        <p:nvGraphicFramePr>
          <p:cNvPr id="4" name="Comparison table"/>
          <p:cNvGraphicFramePr>
            <a:graphicFrameLocks noGrp="1"/>
          </p:cNvGraphicFramePr>
          <p:nvPr>
            <p:extLst>
              <p:ext uri="{D42A27DB-BD31-4B8C-83A1-F6EECF244321}">
                <p14:modId xmlns:p14="http://schemas.microsoft.com/office/powerpoint/2010/main" val="1579011935"/>
              </p:ext>
            </p:extLst>
          </p:nvPr>
        </p:nvGraphicFramePr>
        <p:xfrm>
          <a:off x="548640" y="3520440"/>
          <a:ext cx="11091672" cy="914400"/>
        </p:xfrm>
        <a:graphic>
          <a:graphicData uri="http://schemas.openxmlformats.org/drawingml/2006/table">
            <a:tbl>
              <a:tblPr/>
              <a:tblGrid>
                <a:gridCol w="3108960"/>
                <a:gridCol w="1828800"/>
                <a:gridCol w="1645920"/>
                <a:gridCol w="1920240"/>
                <a:gridCol w="2587752"/>
              </a:tblGrid>
              <a:tr h="347472">
                <a:tc>
                  <a:txBody>
                    <a:bodyPr/>
                    <a:lstStyle/>
                    <a:p>
                      <a:pPr algn="l" indent="0" marL="0">
                        <a:buNone/>
                      </a:pPr>
                      <a:r>
                        <a:rPr lang="en-US" sz="1100" b="1" dirty="0">
                          <a:solidFill>
                            <a:srgbClr val="FFFFFF"/>
                          </a:solidFill>
                        </a:rPr>
                        <a:t>Approach</a:t>
                      </a:r>
                      <a:endParaRPr lang="en-US" sz="1100" dirty="0"/>
                    </a:p>
                  </a:txBody>
                  <a:tcPr marL="91440" marR="91440" marT="27432" marB="27432"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tc>
                  <a:txBody>
                    <a:bodyPr/>
                    <a:lstStyle/>
                    <a:p>
                      <a:pPr algn="ctr" indent="0" marL="0">
                        <a:buNone/>
                      </a:pPr>
                      <a:r>
                        <a:rPr lang="en-US" sz="1100" b="1" dirty="0">
                          <a:solidFill>
                            <a:srgbClr val="FFFFFF"/>
                          </a:solidFill>
                        </a:rPr>
                        <a:t>Untagged items</a:t>
                      </a:r>
                      <a:endParaRPr lang="en-US" sz="1100" dirty="0"/>
                    </a:p>
                  </a:txBody>
                  <a:tcPr marL="91440" marR="91440" marT="27432" marB="27432"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tc>
                  <a:txBody>
                    <a:bodyPr/>
                    <a:lstStyle/>
                    <a:p>
                      <a:pPr algn="ctr" indent="0" marL="0">
                        <a:buNone/>
                      </a:pPr>
                      <a:r>
                        <a:rPr lang="en-US" sz="1100" b="1" dirty="0">
                          <a:solidFill>
                            <a:srgbClr val="FFFFFF"/>
                          </a:solidFill>
                        </a:rPr>
                        <a:t>Uses rules</a:t>
                      </a:r>
                      <a:endParaRPr lang="en-US" sz="1100" dirty="0"/>
                    </a:p>
                  </a:txBody>
                  <a:tcPr marL="91440" marR="91440" marT="27432" marB="27432"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tc>
                  <a:txBody>
                    <a:bodyPr/>
                    <a:lstStyle/>
                    <a:p>
                      <a:pPr algn="ctr" indent="0" marL="0">
                        <a:buNone/>
                      </a:pPr>
                      <a:r>
                        <a:rPr lang="en-US" sz="1100" b="1" dirty="0">
                          <a:solidFill>
                            <a:srgbClr val="FFFFFF"/>
                          </a:solidFill>
                        </a:rPr>
                        <a:t>Explains result</a:t>
                      </a:r>
                      <a:endParaRPr lang="en-US" sz="1100" dirty="0"/>
                    </a:p>
                  </a:txBody>
                  <a:tcPr marL="91440" marR="91440" marT="27432" marB="27432"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tc>
                  <a:txBody>
                    <a:bodyPr/>
                    <a:lstStyle/>
                    <a:p>
                      <a:pPr algn="ctr" indent="0" marL="0">
                        <a:buNone/>
                      </a:pPr>
                      <a:r>
                        <a:rPr lang="en-US" sz="1100" b="1" dirty="0">
                          <a:solidFill>
                            <a:srgbClr val="FFFFFF"/>
                          </a:solidFill>
                        </a:rPr>
                        <a:t>Asks only what is needed</a:t>
                      </a:r>
                      <a:endParaRPr lang="en-US" sz="1100" dirty="0"/>
                    </a:p>
                  </a:txBody>
                  <a:tcPr marL="91440" marR="91440" marT="27432" marB="27432"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tr>
              <a:tr h="347472">
                <a:tc>
                  <a:txBody>
                    <a:bodyPr/>
                    <a:lstStyle/>
                    <a:p>
                      <a:pPr indent="0" marL="0">
                        <a:buNone/>
                      </a:pPr>
                      <a:r>
                        <a:rPr lang="en-US" sz="1100" dirty="0">
                          <a:solidFill>
                            <a:srgbClr val="334155"/>
                          </a:solidFill>
                        </a:rPr>
                        <a:t>Manual memory search</a:t>
                      </a:r>
                      <a:endParaRPr lang="en-US" sz="1100" dirty="0"/>
                    </a:p>
                  </a:txBody>
                  <a:tcPr marL="91440" marR="91440" marT="27432" marB="27432"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100" dirty="0">
                          <a:solidFill>
                            <a:srgbClr val="334155"/>
                          </a:solidFill>
                        </a:rPr>
                        <a:t>Yes</a:t>
                      </a:r>
                      <a:endParaRPr lang="en-US" sz="1100" dirty="0"/>
                    </a:p>
                  </a:txBody>
                  <a:tcPr marL="91440" marR="91440" marT="27432" marB="27432"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100" dirty="0">
                          <a:solidFill>
                            <a:srgbClr val="334155"/>
                          </a:solidFill>
                        </a:rPr>
                        <a:t>No</a:t>
                      </a:r>
                      <a:endParaRPr lang="en-US" sz="1100" dirty="0"/>
                    </a:p>
                  </a:txBody>
                  <a:tcPr marL="91440" marR="91440" marT="27432" marB="27432"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100" dirty="0">
                          <a:solidFill>
                            <a:srgbClr val="334155"/>
                          </a:solidFill>
                        </a:rPr>
                        <a:t>No</a:t>
                      </a:r>
                      <a:endParaRPr lang="en-US" sz="1100" dirty="0"/>
                    </a:p>
                  </a:txBody>
                  <a:tcPr marL="91440" marR="91440" marT="27432" marB="27432"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100" dirty="0">
                          <a:solidFill>
                            <a:srgbClr val="334155"/>
                          </a:solidFill>
                        </a:rPr>
                        <a:t>No</a:t>
                      </a:r>
                      <a:endParaRPr lang="en-US" sz="1100" dirty="0"/>
                    </a:p>
                  </a:txBody>
                  <a:tcPr marL="91440" marR="91440" marT="27432" marB="27432"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r>
              <a:tr h="347472">
                <a:tc>
                  <a:txBody>
                    <a:bodyPr/>
                    <a:lstStyle/>
                    <a:p>
                      <a:pPr indent="0" marL="0">
                        <a:buNone/>
                      </a:pPr>
                      <a:r>
                        <a:rPr lang="en-US" sz="1100" dirty="0">
                          <a:solidFill>
                            <a:srgbClr val="334155"/>
                          </a:solidFill>
                        </a:rPr>
                        <a:t>Bluetooth tracker tags</a:t>
                      </a:r>
                      <a:endParaRPr lang="en-US" sz="1100" dirty="0"/>
                    </a:p>
                  </a:txBody>
                  <a:tcPr marL="91440" marR="91440" marT="27432" marB="27432"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100" dirty="0">
                          <a:solidFill>
                            <a:srgbClr val="334155"/>
                          </a:solidFill>
                        </a:rPr>
                        <a:t>No (tag first)</a:t>
                      </a:r>
                      <a:endParaRPr lang="en-US" sz="1100" dirty="0"/>
                    </a:p>
                  </a:txBody>
                  <a:tcPr marL="91440" marR="91440" marT="27432" marB="27432"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100" dirty="0">
                          <a:solidFill>
                            <a:srgbClr val="334155"/>
                          </a:solidFill>
                        </a:rPr>
                        <a:t>No</a:t>
                      </a:r>
                      <a:endParaRPr lang="en-US" sz="1100" dirty="0"/>
                    </a:p>
                  </a:txBody>
                  <a:tcPr marL="91440" marR="91440" marT="27432" marB="27432"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100" dirty="0">
                          <a:solidFill>
                            <a:srgbClr val="334155"/>
                          </a:solidFill>
                        </a:rPr>
                        <a:t>No</a:t>
                      </a:r>
                      <a:endParaRPr lang="en-US" sz="1100" dirty="0"/>
                    </a:p>
                  </a:txBody>
                  <a:tcPr marL="91440" marR="91440" marT="27432" marB="27432"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100" dirty="0">
                          <a:solidFill>
                            <a:srgbClr val="334155"/>
                          </a:solidFill>
                        </a:rPr>
                        <a:t>Not applicable</a:t>
                      </a:r>
                      <a:endParaRPr lang="en-US" sz="1100" dirty="0"/>
                    </a:p>
                  </a:txBody>
                  <a:tcPr marL="91440" marR="91440" marT="27432" marB="27432"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r>
              <a:tr h="347472">
                <a:tc>
                  <a:txBody>
                    <a:bodyPr/>
                    <a:lstStyle/>
                    <a:p>
                      <a:pPr indent="0" marL="0">
                        <a:buNone/>
                      </a:pPr>
                      <a:r>
                        <a:rPr lang="en-US" sz="1100" dirty="0">
                          <a:solidFill>
                            <a:srgbClr val="334155"/>
                          </a:solidFill>
                        </a:rPr>
                        <a:t>Forward chaining</a:t>
                      </a:r>
                      <a:endParaRPr lang="en-US" sz="1100" dirty="0"/>
                    </a:p>
                  </a:txBody>
                  <a:tcPr marL="91440" marR="91440" marT="27432" marB="27432"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100" dirty="0">
                          <a:solidFill>
                            <a:srgbClr val="334155"/>
                          </a:solidFill>
                        </a:rPr>
                        <a:t>Yes</a:t>
                      </a:r>
                      <a:endParaRPr lang="en-US" sz="1100" dirty="0"/>
                    </a:p>
                  </a:txBody>
                  <a:tcPr marL="91440" marR="91440" marT="27432" marB="27432"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100" dirty="0">
                          <a:solidFill>
                            <a:srgbClr val="334155"/>
                          </a:solidFill>
                        </a:rPr>
                        <a:t>Yes</a:t>
                      </a:r>
                      <a:endParaRPr lang="en-US" sz="1100" dirty="0"/>
                    </a:p>
                  </a:txBody>
                  <a:tcPr marL="91440" marR="91440" marT="27432" marB="27432"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100" dirty="0">
                          <a:solidFill>
                            <a:srgbClr val="334155"/>
                          </a:solidFill>
                        </a:rPr>
                        <a:t>Yes</a:t>
                      </a:r>
                      <a:endParaRPr lang="en-US" sz="1100" dirty="0"/>
                    </a:p>
                  </a:txBody>
                  <a:tcPr marL="91440" marR="91440" marT="27432" marB="27432"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100" dirty="0">
                          <a:solidFill>
                            <a:srgbClr val="334155"/>
                          </a:solidFill>
                        </a:rPr>
                        <a:t>No, needs all data first</a:t>
                      </a:r>
                      <a:endParaRPr lang="en-US" sz="1100" dirty="0"/>
                    </a:p>
                  </a:txBody>
                  <a:tcPr marL="91440" marR="91440" marT="27432" marB="27432"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r>
              <a:tr h="347472">
                <a:tc>
                  <a:txBody>
                    <a:bodyPr/>
                    <a:lstStyle/>
                    <a:p>
                      <a:pPr algn="l" indent="0" marL="0">
                        <a:buNone/>
                      </a:pPr>
                      <a:r>
                        <a:rPr lang="en-US" sz="1100" b="1" dirty="0">
                          <a:solidFill>
                            <a:srgbClr val="0B1F3A"/>
                          </a:solidFill>
                        </a:rPr>
                        <a:t>AI Lost Item Finder (this work)</a:t>
                      </a:r>
                      <a:endParaRPr lang="en-US" sz="1100" dirty="0"/>
                    </a:p>
                  </a:txBody>
                  <a:tcPr marL="91440" marR="91440" marT="27432" marB="27432"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6FAF8"/>
                    </a:solidFill>
                  </a:tcPr>
                </a:tc>
                <a:tc>
                  <a:txBody>
                    <a:bodyPr/>
                    <a:lstStyle/>
                    <a:p>
                      <a:pPr algn="ctr" indent="0" marL="0">
                        <a:buNone/>
                      </a:pPr>
                      <a:r>
                        <a:rPr lang="en-US" sz="1100" b="1" dirty="0">
                          <a:solidFill>
                            <a:srgbClr val="0B1F3A"/>
                          </a:solidFill>
                        </a:rPr>
                        <a:t>Yes</a:t>
                      </a:r>
                      <a:endParaRPr lang="en-US" sz="1100" dirty="0"/>
                    </a:p>
                  </a:txBody>
                  <a:tcPr marL="91440" marR="91440" marT="27432" marB="27432"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6FAF8"/>
                    </a:solidFill>
                  </a:tcPr>
                </a:tc>
                <a:tc>
                  <a:txBody>
                    <a:bodyPr/>
                    <a:lstStyle/>
                    <a:p>
                      <a:pPr algn="ctr" indent="0" marL="0">
                        <a:buNone/>
                      </a:pPr>
                      <a:r>
                        <a:rPr lang="en-US" sz="1100" b="1" dirty="0">
                          <a:solidFill>
                            <a:srgbClr val="0B1F3A"/>
                          </a:solidFill>
                        </a:rPr>
                        <a:t>Yes</a:t>
                      </a:r>
                      <a:endParaRPr lang="en-US" sz="1100" dirty="0"/>
                    </a:p>
                  </a:txBody>
                  <a:tcPr marL="91440" marR="91440" marT="27432" marB="27432"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6FAF8"/>
                    </a:solidFill>
                  </a:tcPr>
                </a:tc>
                <a:tc>
                  <a:txBody>
                    <a:bodyPr/>
                    <a:lstStyle/>
                    <a:p>
                      <a:pPr algn="ctr" indent="0" marL="0">
                        <a:buNone/>
                      </a:pPr>
                      <a:r>
                        <a:rPr lang="en-US" sz="1100" b="1" dirty="0">
                          <a:solidFill>
                            <a:srgbClr val="0B1F3A"/>
                          </a:solidFill>
                        </a:rPr>
                        <a:t>Yes</a:t>
                      </a:r>
                      <a:endParaRPr lang="en-US" sz="1100" dirty="0"/>
                    </a:p>
                  </a:txBody>
                  <a:tcPr marL="91440" marR="91440" marT="27432" marB="27432"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6FAF8"/>
                    </a:solidFill>
                  </a:tcPr>
                </a:tc>
                <a:tc>
                  <a:txBody>
                    <a:bodyPr/>
                    <a:lstStyle/>
                    <a:p>
                      <a:pPr algn="ctr" indent="0" marL="0">
                        <a:buNone/>
                      </a:pPr>
                      <a:r>
                        <a:rPr lang="en-US" sz="1100" b="1" dirty="0">
                          <a:solidFill>
                            <a:srgbClr val="0B1F3A"/>
                          </a:solidFill>
                        </a:rPr>
                        <a:t>Yes, goal-directed</a:t>
                      </a:r>
                      <a:endParaRPr lang="en-US" sz="1100" dirty="0"/>
                    </a:p>
                  </a:txBody>
                  <a:tcPr marL="91440" marR="91440" marT="27432" marB="27432"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6FAF8"/>
                    </a:solidFill>
                  </a:tcPr>
                </a:tc>
              </a:tr>
            </a:tbl>
          </a:graphicData>
        </a:graphic>
      </p:graphicFrame>
      <p:sp>
        <p:nvSpPr>
          <p:cNvPr id="25" name="Research gap box"/>
          <p:cNvSpPr/>
          <p:nvPr/>
        </p:nvSpPr>
        <p:spPr>
          <a:xfrm>
            <a:off x="548640" y="5486400"/>
            <a:ext cx="11091672" cy="777240"/>
          </a:xfrm>
          <a:prstGeom prst="roundRect">
            <a:avLst>
              <a:gd name="adj" fmla="val 9412"/>
            </a:avLst>
          </a:prstGeom>
          <a:solidFill>
            <a:srgbClr val="E6FAF8"/>
          </a:solidFill>
          <a:ln w="12700">
            <a:solidFill>
              <a:srgbClr val="14B8A6"/>
            </a:solidFill>
            <a:prstDash val="solid"/>
          </a:ln>
        </p:spPr>
      </p:sp>
      <p:sp>
        <p:nvSpPr>
          <p:cNvPr id="26" name="Text 19"/>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200" b="1" dirty="0">
                <a:solidFill>
                  <a:srgbClr val="14B8A6"/>
                </a:solidFill>
              </a:rPr>
              <a:t>RESEARCH GAP  </a:t>
            </a:r>
            <a:pPr indent="0" marL="0">
              <a:buNone/>
            </a:pPr>
            <a:r>
              <a:rPr lang="en-US" sz="1200" dirty="0">
                <a:solidFill>
                  <a:srgbClr val="0B1F3A"/>
                </a:solidFill>
              </a:rPr>
              <a:t>Rule-based reasoning is mature in diagnosis and engineering, while lost-item tools need a tag fitted in advance. This work reasons about untagged belongings from the user's own recent activities and shows its reasoning.</a:t>
            </a:r>
            <a:endParaRPr lang="en-US" sz="12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594360"/>
          </a:xfrm>
          <a:prstGeom prst="rect">
            <a:avLst/>
          </a:prstGeom>
          <a:noFill/>
          <a:ln/>
        </p:spPr>
        <p:txBody>
          <a:bodyPr wrap="square" lIns="0" tIns="0" rIns="0" bIns="0" rtlCol="0" anchor="ctr"/>
          <a:lstStyle/>
          <a:p>
            <a:pPr algn="l" indent="0" marL="0">
              <a:buNone/>
            </a:pPr>
            <a:r>
              <a:rPr lang="en-US" sz="3000" b="1" dirty="0">
                <a:solidFill>
                  <a:srgbClr val="FFFFFF"/>
                </a:solidFill>
              </a:rPr>
              <a:t>System Architecture</a:t>
            </a:r>
            <a:endParaRPr lang="en-US" sz="3000" dirty="0"/>
          </a:p>
        </p:txBody>
      </p:sp>
      <p:sp>
        <p:nvSpPr>
          <p:cNvPr id="3" name="Subtitle"/>
          <p:cNvSpPr txBox="1"/>
          <p:nvPr/>
        </p:nvSpPr>
        <p:spPr>
          <a:xfrm>
            <a:off x="548640" y="914400"/>
            <a:ext cx="11064240" cy="365760"/>
          </a:xfrm>
          <a:prstGeom prst="rect">
            <a:avLst/>
          </a:prstGeom>
          <a:noFill/>
          <a:ln/>
        </p:spPr>
        <p:txBody>
          <a:bodyPr wrap="square" lIns="0" tIns="0" rIns="0" bIns="0" rtlCol="0" anchor="ctr"/>
          <a:lstStyle/>
          <a:p>
            <a:pPr indent="0" marL="0">
              <a:buNone/>
            </a:pPr>
            <a:r>
              <a:rPr lang="en-US" sz="1500" dirty="0">
                <a:solidFill>
                  <a:srgbClr val="22D3EE"/>
                </a:solidFill>
              </a:rPr>
              <a:t>From the user's answers to an explained location</a:t>
            </a:r>
            <a:endParaRPr lang="en-US" sz="1500" dirty="0"/>
          </a:p>
        </p:txBody>
      </p:sp>
      <p:sp>
        <p:nvSpPr>
          <p:cNvPr id="4" name="User Interface"/>
          <p:cNvSpPr/>
          <p:nvPr/>
        </p:nvSpPr>
        <p:spPr>
          <a:xfrm>
            <a:off x="411480" y="1943100"/>
            <a:ext cx="1828800" cy="2743200"/>
          </a:xfrm>
          <a:prstGeom prst="roundRect">
            <a:avLst>
              <a:gd name="adj" fmla="val 5000"/>
            </a:avLst>
          </a:prstGeom>
          <a:solidFill>
            <a:srgbClr val="112B4D"/>
          </a:solidFill>
          <a:ln w="25400">
            <a:solidFill>
              <a:srgbClr val="3B82F6"/>
            </a:solidFill>
            <a:prstDash val="solid"/>
          </a:ln>
        </p:spPr>
      </p:sp>
      <p:sp>
        <p:nvSpPr>
          <p:cNvPr id="5" name="User Interface number"/>
          <p:cNvSpPr/>
          <p:nvPr/>
        </p:nvSpPr>
        <p:spPr>
          <a:xfrm>
            <a:off x="548640" y="2071116"/>
            <a:ext cx="310896" cy="310896"/>
          </a:xfrm>
          <a:prstGeom prst="ellipse">
            <a:avLst/>
          </a:prstGeom>
          <a:solidFill>
            <a:srgbClr val="3B82F6"/>
          </a:solidFill>
          <a:ln w="12700">
            <a:solidFill>
              <a:srgbClr val="3B82F6"/>
            </a:solidFill>
            <a:prstDash val="solid"/>
          </a:ln>
        </p:spPr>
      </p:sp>
      <p:sp>
        <p:nvSpPr>
          <p:cNvPr id="6" name="Text 4"/>
          <p:cNvSpPr txBox="1"/>
          <p:nvPr/>
        </p:nvSpPr>
        <p:spPr>
          <a:xfrm>
            <a:off x="548640" y="207111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7" name="User Interface title"/>
          <p:cNvSpPr txBox="1"/>
          <p:nvPr/>
        </p:nvSpPr>
        <p:spPr>
          <a:xfrm>
            <a:off x="941832" y="2052828"/>
            <a:ext cx="1207008" cy="347472"/>
          </a:xfrm>
          <a:prstGeom prst="rect">
            <a:avLst/>
          </a:prstGeom>
          <a:noFill/>
          <a:ln/>
        </p:spPr>
        <p:txBody>
          <a:bodyPr wrap="square" lIns="0" tIns="0" rIns="0" bIns="0" rtlCol="0" anchor="ctr"/>
          <a:lstStyle/>
          <a:p>
            <a:pPr indent="0" marL="0">
              <a:buNone/>
            </a:pPr>
            <a:r>
              <a:rPr lang="en-US" sz="1300" b="1" dirty="0">
                <a:solidFill>
                  <a:srgbClr val="FFFFFF"/>
                </a:solidFill>
              </a:rPr>
              <a:t>User Interface</a:t>
            </a:r>
            <a:endParaRPr lang="en-US" sz="1300" dirty="0"/>
          </a:p>
        </p:txBody>
      </p:sp>
      <p:sp>
        <p:nvSpPr>
          <p:cNvPr id="8" name="User Interface text"/>
          <p:cNvSpPr txBox="1"/>
          <p:nvPr/>
        </p:nvSpPr>
        <p:spPr>
          <a:xfrm>
            <a:off x="576072" y="2473452"/>
            <a:ext cx="1554480" cy="2139696"/>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CBD5E1"/>
                </a:solidFill>
              </a:rPr>
              <a:t>Select the lost item</a:t>
            </a:r>
            <a:endParaRPr lang="en-US" sz="1100" dirty="0"/>
          </a:p>
          <a:p>
            <a:pPr marL="152400" indent="-152400">
              <a:spcAft>
                <a:spcPts val="400"/>
              </a:spcAft>
              <a:buSzPct val="100000"/>
              <a:buChar char="•"/>
            </a:pPr>
            <a:r>
              <a:rPr lang="en-US" sz="1100" dirty="0">
                <a:solidFill>
                  <a:srgbClr val="CBD5E1"/>
                </a:solidFill>
              </a:rPr>
              <a:t>Answer Yes, No, Not sure or pick a location</a:t>
            </a:r>
            <a:endParaRPr lang="en-US" sz="1100" dirty="0"/>
          </a:p>
        </p:txBody>
      </p:sp>
      <p:sp>
        <p:nvSpPr>
          <p:cNvPr id="9" name="Fact Generation"/>
          <p:cNvSpPr/>
          <p:nvPr/>
        </p:nvSpPr>
        <p:spPr>
          <a:xfrm>
            <a:off x="2606040" y="1943100"/>
            <a:ext cx="1828800" cy="2743200"/>
          </a:xfrm>
          <a:prstGeom prst="roundRect">
            <a:avLst>
              <a:gd name="adj" fmla="val 5000"/>
            </a:avLst>
          </a:prstGeom>
          <a:solidFill>
            <a:srgbClr val="112B4D"/>
          </a:solidFill>
          <a:ln w="25400">
            <a:solidFill>
              <a:srgbClr val="EAB308"/>
            </a:solidFill>
            <a:prstDash val="solid"/>
          </a:ln>
        </p:spPr>
      </p:sp>
      <p:sp>
        <p:nvSpPr>
          <p:cNvPr id="10" name="Fact Generation number"/>
          <p:cNvSpPr/>
          <p:nvPr/>
        </p:nvSpPr>
        <p:spPr>
          <a:xfrm>
            <a:off x="2743200" y="2071116"/>
            <a:ext cx="310896" cy="310896"/>
          </a:xfrm>
          <a:prstGeom prst="ellipse">
            <a:avLst/>
          </a:prstGeom>
          <a:solidFill>
            <a:srgbClr val="EAB308"/>
          </a:solidFill>
          <a:ln w="12700">
            <a:solidFill>
              <a:srgbClr val="EAB308"/>
            </a:solidFill>
            <a:prstDash val="solid"/>
          </a:ln>
        </p:spPr>
      </p:sp>
      <p:sp>
        <p:nvSpPr>
          <p:cNvPr id="11" name="Text 9"/>
          <p:cNvSpPr txBox="1"/>
          <p:nvPr/>
        </p:nvSpPr>
        <p:spPr>
          <a:xfrm>
            <a:off x="2743200" y="2071116"/>
            <a:ext cx="310896" cy="310896"/>
          </a:xfrm>
          <a:prstGeom prst="rect">
            <a:avLst/>
          </a:prstGeom>
          <a:noFill/>
          <a:ln/>
        </p:spPr>
        <p:txBody>
          <a:bodyPr wrap="square" lIns="0" tIns="0" rIns="0" bIns="0" rtlCol="0" anchor="ctr"/>
          <a:lstStyle/>
          <a:p>
            <a:pPr algn="ctr" indent="0" marL="0">
              <a:buNone/>
            </a:pPr>
            <a:r>
              <a:rPr lang="en-US" sz="1100" b="1" dirty="0">
                <a:solidFill>
                  <a:srgbClr val="0B1F3A"/>
                </a:solidFill>
              </a:rPr>
              <a:t>2</a:t>
            </a:r>
            <a:endParaRPr lang="en-US" sz="1100" dirty="0"/>
          </a:p>
        </p:txBody>
      </p:sp>
      <p:sp>
        <p:nvSpPr>
          <p:cNvPr id="12" name="Fact Generation title"/>
          <p:cNvSpPr txBox="1"/>
          <p:nvPr/>
        </p:nvSpPr>
        <p:spPr>
          <a:xfrm>
            <a:off x="3136392" y="2052828"/>
            <a:ext cx="1207008" cy="347472"/>
          </a:xfrm>
          <a:prstGeom prst="rect">
            <a:avLst/>
          </a:prstGeom>
          <a:noFill/>
          <a:ln/>
        </p:spPr>
        <p:txBody>
          <a:bodyPr wrap="square" lIns="0" tIns="0" rIns="0" bIns="0" rtlCol="0" anchor="ctr"/>
          <a:lstStyle/>
          <a:p>
            <a:pPr indent="0" marL="0">
              <a:buNone/>
            </a:pPr>
            <a:r>
              <a:rPr lang="en-US" sz="1300" b="1" dirty="0">
                <a:solidFill>
                  <a:srgbClr val="FFFFFF"/>
                </a:solidFill>
              </a:rPr>
              <a:t>Fact Generation</a:t>
            </a:r>
            <a:endParaRPr lang="en-US" sz="1300" dirty="0"/>
          </a:p>
        </p:txBody>
      </p:sp>
      <p:sp>
        <p:nvSpPr>
          <p:cNvPr id="13" name="Fact Generation text"/>
          <p:cNvSpPr txBox="1"/>
          <p:nvPr/>
        </p:nvSpPr>
        <p:spPr>
          <a:xfrm>
            <a:off x="2770632" y="2473452"/>
            <a:ext cx="1554480" cy="2139696"/>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CBD5E1"/>
                </a:solidFill>
              </a:rPr>
              <a:t>Answer becomes a logical fact</a:t>
            </a:r>
            <a:endParaRPr lang="en-US" sz="1100" dirty="0"/>
          </a:p>
          <a:p>
            <a:pPr marL="152400" indent="-152400">
              <a:spcAft>
                <a:spcPts val="400"/>
              </a:spcAft>
              <a:buSzPct val="100000"/>
              <a:buChar char="•"/>
            </a:pPr>
            <a:r>
              <a:rPr lang="en-US" sz="1100" dirty="0">
                <a:solidFill>
                  <a:srgbClr val="CBD5E1"/>
                </a:solidFill>
              </a:rPr>
              <a:t>Yes adds a ground fact</a:t>
            </a:r>
            <a:endParaRPr lang="en-US" sz="1100" dirty="0"/>
          </a:p>
          <a:p>
            <a:pPr marL="152400" indent="-152400">
              <a:spcAft>
                <a:spcPts val="400"/>
              </a:spcAft>
              <a:buSzPct val="100000"/>
              <a:buChar char="•"/>
            </a:pPr>
            <a:r>
              <a:rPr lang="en-US" sz="1100" dirty="0">
                <a:solidFill>
                  <a:srgbClr val="CBD5E1"/>
                </a:solidFill>
              </a:rPr>
              <a:t>A location answer binds the variable</a:t>
            </a:r>
            <a:endParaRPr lang="en-US" sz="1100" dirty="0"/>
          </a:p>
          <a:p>
            <a:pPr marL="152400" indent="-152400">
              <a:spcAft>
                <a:spcPts val="400"/>
              </a:spcAft>
              <a:buSzPct val="100000"/>
              <a:buChar char="•"/>
            </a:pPr>
            <a:r>
              <a:rPr lang="en-US" sz="1100" dirty="0">
                <a:solidFill>
                  <a:srgbClr val="CBD5E1"/>
                </a:solidFill>
              </a:rPr>
              <a:t>No and Not sure add nothing</a:t>
            </a:r>
            <a:endParaRPr lang="en-US" sz="1100" dirty="0"/>
          </a:p>
        </p:txBody>
      </p:sp>
      <p:sp>
        <p:nvSpPr>
          <p:cNvPr id="14" name="Item bank"/>
          <p:cNvSpPr/>
          <p:nvPr/>
        </p:nvSpPr>
        <p:spPr>
          <a:xfrm>
            <a:off x="4800600" y="1737360"/>
            <a:ext cx="2377440" cy="960120"/>
          </a:xfrm>
          <a:prstGeom prst="roundRect">
            <a:avLst>
              <a:gd name="adj" fmla="val 9524"/>
            </a:avLst>
          </a:prstGeom>
          <a:solidFill>
            <a:srgbClr val="112B4D"/>
          </a:solidFill>
          <a:ln w="25400">
            <a:solidFill>
              <a:srgbClr val="22C55E"/>
            </a:solidFill>
            <a:prstDash val="solid"/>
          </a:ln>
        </p:spPr>
      </p:sp>
      <p:sp>
        <p:nvSpPr>
          <p:cNvPr id="15" name="Item bank number"/>
          <p:cNvSpPr/>
          <p:nvPr/>
        </p:nvSpPr>
        <p:spPr>
          <a:xfrm>
            <a:off x="4937760" y="1865376"/>
            <a:ext cx="310896" cy="310896"/>
          </a:xfrm>
          <a:prstGeom prst="ellipse">
            <a:avLst/>
          </a:prstGeom>
          <a:solidFill>
            <a:srgbClr val="22C55E"/>
          </a:solidFill>
          <a:ln w="12700">
            <a:solidFill>
              <a:srgbClr val="22C55E"/>
            </a:solidFill>
            <a:prstDash val="solid"/>
          </a:ln>
        </p:spPr>
      </p:sp>
      <p:sp>
        <p:nvSpPr>
          <p:cNvPr id="16" name="Text 14"/>
          <p:cNvSpPr txBox="1"/>
          <p:nvPr/>
        </p:nvSpPr>
        <p:spPr>
          <a:xfrm>
            <a:off x="4937760" y="1865376"/>
            <a:ext cx="310896" cy="310896"/>
          </a:xfrm>
          <a:prstGeom prst="rect">
            <a:avLst/>
          </a:prstGeom>
          <a:noFill/>
          <a:ln/>
        </p:spPr>
        <p:txBody>
          <a:bodyPr wrap="square" lIns="0" tIns="0" rIns="0" bIns="0" rtlCol="0" anchor="ctr"/>
          <a:lstStyle/>
          <a:p>
            <a:pPr algn="ctr" indent="0" marL="0">
              <a:buNone/>
            </a:pPr>
            <a:r>
              <a:rPr lang="en-US" sz="1100" b="1" dirty="0">
                <a:solidFill>
                  <a:srgbClr val="0B1F3A"/>
                </a:solidFill>
              </a:rPr>
              <a:t>3</a:t>
            </a:r>
            <a:endParaRPr lang="en-US" sz="1100" dirty="0"/>
          </a:p>
        </p:txBody>
      </p:sp>
      <p:sp>
        <p:nvSpPr>
          <p:cNvPr id="17" name="Item bank title"/>
          <p:cNvSpPr txBox="1"/>
          <p:nvPr/>
        </p:nvSpPr>
        <p:spPr>
          <a:xfrm>
            <a:off x="5330952" y="1847088"/>
            <a:ext cx="1755648" cy="347472"/>
          </a:xfrm>
          <a:prstGeom prst="rect">
            <a:avLst/>
          </a:prstGeom>
          <a:noFill/>
          <a:ln/>
        </p:spPr>
        <p:txBody>
          <a:bodyPr wrap="square" lIns="0" tIns="0" rIns="0" bIns="0" rtlCol="0" anchor="ctr"/>
          <a:lstStyle/>
          <a:p>
            <a:pPr indent="0" marL="0">
              <a:buNone/>
            </a:pPr>
            <a:r>
              <a:rPr lang="en-US" sz="1300" b="1" dirty="0">
                <a:solidFill>
                  <a:srgbClr val="FFFFFF"/>
                </a:solidFill>
              </a:rPr>
              <a:t>Item &amp; Question Bank</a:t>
            </a:r>
            <a:endParaRPr lang="en-US" sz="1300" dirty="0"/>
          </a:p>
        </p:txBody>
      </p:sp>
      <p:sp>
        <p:nvSpPr>
          <p:cNvPr id="18" name="Item bank text"/>
          <p:cNvSpPr txBox="1"/>
          <p:nvPr/>
        </p:nvSpPr>
        <p:spPr>
          <a:xfrm>
            <a:off x="4965192" y="2267712"/>
            <a:ext cx="2103120" cy="356616"/>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CBD5E1"/>
                </a:solidFill>
              </a:rPr>
              <a:t>7 items, 10 locations</a:t>
            </a:r>
            <a:endParaRPr lang="en-US" sz="1100" dirty="0"/>
          </a:p>
          <a:p>
            <a:pPr marL="152400" indent="-152400">
              <a:spcAft>
                <a:spcPts val="400"/>
              </a:spcAft>
              <a:buSzPct val="100000"/>
              <a:buChar char="•"/>
            </a:pPr>
            <a:r>
              <a:rPr lang="en-US" sz="1100" dirty="0">
                <a:solidFill>
                  <a:srgbClr val="CBD5E1"/>
                </a:solidFill>
              </a:rPr>
              <a:t>Question templates</a:t>
            </a:r>
            <a:endParaRPr lang="en-US" sz="1100" dirty="0"/>
          </a:p>
        </p:txBody>
      </p:sp>
      <p:sp>
        <p:nvSpPr>
          <p:cNvPr id="19" name="Knowledge base"/>
          <p:cNvSpPr/>
          <p:nvPr/>
        </p:nvSpPr>
        <p:spPr>
          <a:xfrm>
            <a:off x="4800600" y="2834640"/>
            <a:ext cx="2377440" cy="960120"/>
          </a:xfrm>
          <a:prstGeom prst="roundRect">
            <a:avLst>
              <a:gd name="adj" fmla="val 9524"/>
            </a:avLst>
          </a:prstGeom>
          <a:solidFill>
            <a:srgbClr val="112B4D"/>
          </a:solidFill>
          <a:ln w="25400">
            <a:solidFill>
              <a:srgbClr val="22C55E"/>
            </a:solidFill>
            <a:prstDash val="solid"/>
          </a:ln>
        </p:spPr>
      </p:sp>
      <p:sp>
        <p:nvSpPr>
          <p:cNvPr id="20" name="Knowledge base number"/>
          <p:cNvSpPr/>
          <p:nvPr/>
        </p:nvSpPr>
        <p:spPr>
          <a:xfrm>
            <a:off x="4937760" y="2962656"/>
            <a:ext cx="310896" cy="310896"/>
          </a:xfrm>
          <a:prstGeom prst="ellipse">
            <a:avLst/>
          </a:prstGeom>
          <a:solidFill>
            <a:srgbClr val="22C55E"/>
          </a:solidFill>
          <a:ln w="12700">
            <a:solidFill>
              <a:srgbClr val="22C55E"/>
            </a:solidFill>
            <a:prstDash val="solid"/>
          </a:ln>
        </p:spPr>
      </p:sp>
      <p:sp>
        <p:nvSpPr>
          <p:cNvPr id="21" name="Text 19"/>
          <p:cNvSpPr txBox="1"/>
          <p:nvPr/>
        </p:nvSpPr>
        <p:spPr>
          <a:xfrm>
            <a:off x="4937760" y="2962656"/>
            <a:ext cx="310896" cy="310896"/>
          </a:xfrm>
          <a:prstGeom prst="rect">
            <a:avLst/>
          </a:prstGeom>
          <a:noFill/>
          <a:ln/>
        </p:spPr>
        <p:txBody>
          <a:bodyPr wrap="square" lIns="0" tIns="0" rIns="0" bIns="0" rtlCol="0" anchor="ctr"/>
          <a:lstStyle/>
          <a:p>
            <a:pPr algn="ctr" indent="0" marL="0">
              <a:buNone/>
            </a:pPr>
            <a:r>
              <a:rPr lang="en-US" sz="1100" b="1" dirty="0">
                <a:solidFill>
                  <a:srgbClr val="0B1F3A"/>
                </a:solidFill>
              </a:rPr>
              <a:t>4</a:t>
            </a:r>
            <a:endParaRPr lang="en-US" sz="1100" dirty="0"/>
          </a:p>
        </p:txBody>
      </p:sp>
      <p:sp>
        <p:nvSpPr>
          <p:cNvPr id="22" name="Knowledge base title"/>
          <p:cNvSpPr txBox="1"/>
          <p:nvPr/>
        </p:nvSpPr>
        <p:spPr>
          <a:xfrm>
            <a:off x="5330952" y="2944368"/>
            <a:ext cx="1755648" cy="347472"/>
          </a:xfrm>
          <a:prstGeom prst="rect">
            <a:avLst/>
          </a:prstGeom>
          <a:noFill/>
          <a:ln/>
        </p:spPr>
        <p:txBody>
          <a:bodyPr wrap="square" lIns="0" tIns="0" rIns="0" bIns="0" rtlCol="0" anchor="ctr"/>
          <a:lstStyle/>
          <a:p>
            <a:pPr indent="0" marL="0">
              <a:buNone/>
            </a:pPr>
            <a:r>
              <a:rPr lang="en-US" sz="1300" b="1" dirty="0">
                <a:solidFill>
                  <a:srgbClr val="FFFFFF"/>
                </a:solidFill>
              </a:rPr>
              <a:t>Knowledge Base</a:t>
            </a:r>
            <a:endParaRPr lang="en-US" sz="1300" dirty="0"/>
          </a:p>
        </p:txBody>
      </p:sp>
      <p:sp>
        <p:nvSpPr>
          <p:cNvPr id="23" name="Knowledge base text"/>
          <p:cNvSpPr txBox="1"/>
          <p:nvPr/>
        </p:nvSpPr>
        <p:spPr>
          <a:xfrm>
            <a:off x="4965192" y="3364992"/>
            <a:ext cx="2103120" cy="356616"/>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CBD5E1"/>
                </a:solidFill>
              </a:rPr>
              <a:t>Rules R1–R6 with CFs</a:t>
            </a:r>
            <a:endParaRPr lang="en-US" sz="1100" dirty="0"/>
          </a:p>
          <a:p>
            <a:pPr marL="152400" indent="-152400">
              <a:spcAft>
                <a:spcPts val="400"/>
              </a:spcAft>
              <a:buSzPct val="100000"/>
              <a:buChar char="•"/>
            </a:pPr>
            <a:r>
              <a:rPr lang="en-US" sz="1100" dirty="0">
                <a:solidFill>
                  <a:srgbClr val="CBD5E1"/>
                </a:solidFill>
              </a:rPr>
              <a:t>Stored as data</a:t>
            </a:r>
            <a:endParaRPr lang="en-US" sz="1100" dirty="0"/>
          </a:p>
        </p:txBody>
      </p:sp>
      <p:sp>
        <p:nvSpPr>
          <p:cNvPr id="24" name="Fact store"/>
          <p:cNvSpPr/>
          <p:nvPr/>
        </p:nvSpPr>
        <p:spPr>
          <a:xfrm>
            <a:off x="4800600" y="3931920"/>
            <a:ext cx="2377440" cy="960120"/>
          </a:xfrm>
          <a:prstGeom prst="roundRect">
            <a:avLst>
              <a:gd name="adj" fmla="val 9524"/>
            </a:avLst>
          </a:prstGeom>
          <a:solidFill>
            <a:srgbClr val="112B4D"/>
          </a:solidFill>
          <a:ln w="25400">
            <a:solidFill>
              <a:srgbClr val="22C55E"/>
            </a:solidFill>
            <a:prstDash val="solid"/>
          </a:ln>
        </p:spPr>
      </p:sp>
      <p:sp>
        <p:nvSpPr>
          <p:cNvPr id="25" name="Fact store number"/>
          <p:cNvSpPr/>
          <p:nvPr/>
        </p:nvSpPr>
        <p:spPr>
          <a:xfrm>
            <a:off x="4937760" y="4059936"/>
            <a:ext cx="310896" cy="310896"/>
          </a:xfrm>
          <a:prstGeom prst="ellipse">
            <a:avLst/>
          </a:prstGeom>
          <a:solidFill>
            <a:srgbClr val="22C55E"/>
          </a:solidFill>
          <a:ln w="12700">
            <a:solidFill>
              <a:srgbClr val="22C55E"/>
            </a:solidFill>
            <a:prstDash val="solid"/>
          </a:ln>
        </p:spPr>
      </p:sp>
      <p:sp>
        <p:nvSpPr>
          <p:cNvPr id="26" name="Text 24"/>
          <p:cNvSpPr txBox="1"/>
          <p:nvPr/>
        </p:nvSpPr>
        <p:spPr>
          <a:xfrm>
            <a:off x="4937760" y="4059936"/>
            <a:ext cx="310896" cy="310896"/>
          </a:xfrm>
          <a:prstGeom prst="rect">
            <a:avLst/>
          </a:prstGeom>
          <a:noFill/>
          <a:ln/>
        </p:spPr>
        <p:txBody>
          <a:bodyPr wrap="square" lIns="0" tIns="0" rIns="0" bIns="0" rtlCol="0" anchor="ctr"/>
          <a:lstStyle/>
          <a:p>
            <a:pPr algn="ctr" indent="0" marL="0">
              <a:buNone/>
            </a:pPr>
            <a:r>
              <a:rPr lang="en-US" sz="1100" b="1" dirty="0">
                <a:solidFill>
                  <a:srgbClr val="0B1F3A"/>
                </a:solidFill>
              </a:rPr>
              <a:t>5</a:t>
            </a:r>
            <a:endParaRPr lang="en-US" sz="1100" dirty="0"/>
          </a:p>
        </p:txBody>
      </p:sp>
      <p:sp>
        <p:nvSpPr>
          <p:cNvPr id="27" name="Fact store title"/>
          <p:cNvSpPr txBox="1"/>
          <p:nvPr/>
        </p:nvSpPr>
        <p:spPr>
          <a:xfrm>
            <a:off x="5330952" y="4041648"/>
            <a:ext cx="1755648" cy="347472"/>
          </a:xfrm>
          <a:prstGeom prst="rect">
            <a:avLst/>
          </a:prstGeom>
          <a:noFill/>
          <a:ln/>
        </p:spPr>
        <p:txBody>
          <a:bodyPr wrap="square" lIns="0" tIns="0" rIns="0" bIns="0" rtlCol="0" anchor="ctr"/>
          <a:lstStyle/>
          <a:p>
            <a:pPr indent="0" marL="0">
              <a:buNone/>
            </a:pPr>
            <a:r>
              <a:rPr lang="en-US" sz="1300" b="1" dirty="0">
                <a:solidFill>
                  <a:srgbClr val="FFFFFF"/>
                </a:solidFill>
              </a:rPr>
              <a:t>Session Fact Store</a:t>
            </a:r>
            <a:endParaRPr lang="en-US" sz="1300" dirty="0"/>
          </a:p>
        </p:txBody>
      </p:sp>
      <p:sp>
        <p:nvSpPr>
          <p:cNvPr id="28" name="Fact store text"/>
          <p:cNvSpPr txBox="1"/>
          <p:nvPr/>
        </p:nvSpPr>
        <p:spPr>
          <a:xfrm>
            <a:off x="4965192" y="4462272"/>
            <a:ext cx="2103120" cy="356616"/>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CBD5E1"/>
                </a:solidFill>
              </a:rPr>
              <a:t>Static + answered facts</a:t>
            </a:r>
            <a:endParaRPr lang="en-US" sz="1100" dirty="0"/>
          </a:p>
          <a:p>
            <a:pPr marL="152400" indent="-152400">
              <a:spcAft>
                <a:spcPts val="400"/>
              </a:spcAft>
              <a:buSzPct val="100000"/>
              <a:buChar char="•"/>
            </a:pPr>
            <a:r>
              <a:rPr lang="en-US" sz="1100" dirty="0">
                <a:solidFill>
                  <a:srgbClr val="CBD5E1"/>
                </a:solidFill>
              </a:rPr>
              <a:t>No repeated questions</a:t>
            </a:r>
            <a:endParaRPr lang="en-US" sz="1100" dirty="0"/>
          </a:p>
        </p:txBody>
      </p:sp>
      <p:sp>
        <p:nvSpPr>
          <p:cNvPr id="29" name="Inference engine"/>
          <p:cNvSpPr/>
          <p:nvPr/>
        </p:nvSpPr>
        <p:spPr>
          <a:xfrm>
            <a:off x="7543800" y="1943100"/>
            <a:ext cx="2011680" cy="2743200"/>
          </a:xfrm>
          <a:prstGeom prst="roundRect">
            <a:avLst>
              <a:gd name="adj" fmla="val 4545"/>
            </a:avLst>
          </a:prstGeom>
          <a:solidFill>
            <a:srgbClr val="112B4D"/>
          </a:solidFill>
          <a:ln w="25400">
            <a:solidFill>
              <a:srgbClr val="EF4444"/>
            </a:solidFill>
            <a:prstDash val="solid"/>
          </a:ln>
        </p:spPr>
      </p:sp>
      <p:sp>
        <p:nvSpPr>
          <p:cNvPr id="30" name="Inference engine number"/>
          <p:cNvSpPr/>
          <p:nvPr/>
        </p:nvSpPr>
        <p:spPr>
          <a:xfrm>
            <a:off x="7680960" y="2071116"/>
            <a:ext cx="310896" cy="310896"/>
          </a:xfrm>
          <a:prstGeom prst="ellipse">
            <a:avLst/>
          </a:prstGeom>
          <a:solidFill>
            <a:srgbClr val="EF4444"/>
          </a:solidFill>
          <a:ln w="12700">
            <a:solidFill>
              <a:srgbClr val="EF4444"/>
            </a:solidFill>
            <a:prstDash val="solid"/>
          </a:ln>
        </p:spPr>
      </p:sp>
      <p:sp>
        <p:nvSpPr>
          <p:cNvPr id="31" name="Text 29"/>
          <p:cNvSpPr txBox="1"/>
          <p:nvPr/>
        </p:nvSpPr>
        <p:spPr>
          <a:xfrm>
            <a:off x="7680960" y="207111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6</a:t>
            </a:r>
            <a:endParaRPr lang="en-US" sz="1100" dirty="0"/>
          </a:p>
        </p:txBody>
      </p:sp>
      <p:sp>
        <p:nvSpPr>
          <p:cNvPr id="32" name="Inference engine title"/>
          <p:cNvSpPr txBox="1"/>
          <p:nvPr/>
        </p:nvSpPr>
        <p:spPr>
          <a:xfrm>
            <a:off x="8074152" y="2052828"/>
            <a:ext cx="1389888" cy="347472"/>
          </a:xfrm>
          <a:prstGeom prst="rect">
            <a:avLst/>
          </a:prstGeom>
          <a:noFill/>
          <a:ln/>
        </p:spPr>
        <p:txBody>
          <a:bodyPr wrap="square" lIns="0" tIns="0" rIns="0" bIns="0" rtlCol="0" anchor="ctr"/>
          <a:lstStyle/>
          <a:p>
            <a:pPr indent="0" marL="0">
              <a:buNone/>
            </a:pPr>
            <a:r>
              <a:rPr lang="en-US" sz="1300" b="1" dirty="0">
                <a:solidFill>
                  <a:srgbClr val="FFFFFF"/>
                </a:solidFill>
              </a:rPr>
              <a:t>Inference Engine</a:t>
            </a:r>
            <a:endParaRPr lang="en-US" sz="1300" dirty="0"/>
          </a:p>
        </p:txBody>
      </p:sp>
      <p:sp>
        <p:nvSpPr>
          <p:cNvPr id="33" name="Inference engine text"/>
          <p:cNvSpPr txBox="1"/>
          <p:nvPr/>
        </p:nvSpPr>
        <p:spPr>
          <a:xfrm>
            <a:off x="7708392" y="2473452"/>
            <a:ext cx="1737360" cy="2139696"/>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CBD5E1"/>
                </a:solidFill>
              </a:rPr>
              <a:t>Goal: LikelyAt(Item, ?l)</a:t>
            </a:r>
            <a:endParaRPr lang="en-US" sz="1100" dirty="0"/>
          </a:p>
          <a:p>
            <a:pPr marL="152400" indent="-152400">
              <a:spcAft>
                <a:spcPts val="400"/>
              </a:spcAft>
              <a:buSzPct val="100000"/>
              <a:buChar char="•"/>
            </a:pPr>
            <a:r>
              <a:rPr lang="en-US" sz="1100" dirty="0">
                <a:solidFill>
                  <a:srgbClr val="CBD5E1"/>
                </a:solidFill>
              </a:rPr>
              <a:t>Rules tried by CF, highest first</a:t>
            </a:r>
            <a:endParaRPr lang="en-US" sz="1100" dirty="0"/>
          </a:p>
          <a:p>
            <a:pPr marL="152400" indent="-152400">
              <a:spcAft>
                <a:spcPts val="400"/>
              </a:spcAft>
              <a:buSzPct val="100000"/>
              <a:buChar char="•"/>
            </a:pPr>
            <a:r>
              <a:rPr lang="en-US" sz="1100" dirty="0">
                <a:solidFill>
                  <a:srgbClr val="CBD5E1"/>
                </a:solidFill>
              </a:rPr>
              <a:t>Unification, depth-first proof</a:t>
            </a:r>
            <a:endParaRPr lang="en-US" sz="1100" dirty="0"/>
          </a:p>
          <a:p>
            <a:pPr marL="152400" indent="-152400">
              <a:spcAft>
                <a:spcPts val="400"/>
              </a:spcAft>
              <a:buSzPct val="100000"/>
              <a:buChar char="•"/>
            </a:pPr>
            <a:r>
              <a:rPr lang="en-US" sz="1100" dirty="0">
                <a:solidFill>
                  <a:srgbClr val="CBD5E1"/>
                </a:solidFill>
              </a:rPr>
              <a:t>Stops at CF ≥ 0.75</a:t>
            </a:r>
            <a:endParaRPr lang="en-US" sz="1100" dirty="0"/>
          </a:p>
        </p:txBody>
      </p:sp>
      <p:sp>
        <p:nvSpPr>
          <p:cNvPr id="34" name="Explanation and result"/>
          <p:cNvSpPr/>
          <p:nvPr/>
        </p:nvSpPr>
        <p:spPr>
          <a:xfrm>
            <a:off x="9921240" y="1943100"/>
            <a:ext cx="1828800" cy="2743200"/>
          </a:xfrm>
          <a:prstGeom prst="roundRect">
            <a:avLst>
              <a:gd name="adj" fmla="val 5000"/>
            </a:avLst>
          </a:prstGeom>
          <a:solidFill>
            <a:srgbClr val="112B4D"/>
          </a:solidFill>
          <a:ln w="25400">
            <a:solidFill>
              <a:srgbClr val="3B82F6"/>
            </a:solidFill>
            <a:prstDash val="solid"/>
          </a:ln>
        </p:spPr>
      </p:sp>
      <p:sp>
        <p:nvSpPr>
          <p:cNvPr id="35" name="Explanation and result number"/>
          <p:cNvSpPr/>
          <p:nvPr/>
        </p:nvSpPr>
        <p:spPr>
          <a:xfrm>
            <a:off x="10058400" y="2071116"/>
            <a:ext cx="310896" cy="310896"/>
          </a:xfrm>
          <a:prstGeom prst="ellipse">
            <a:avLst/>
          </a:prstGeom>
          <a:solidFill>
            <a:srgbClr val="3B82F6"/>
          </a:solidFill>
          <a:ln w="12700">
            <a:solidFill>
              <a:srgbClr val="3B82F6"/>
            </a:solidFill>
            <a:prstDash val="solid"/>
          </a:ln>
        </p:spPr>
      </p:sp>
      <p:sp>
        <p:nvSpPr>
          <p:cNvPr id="36" name="Text 34"/>
          <p:cNvSpPr txBox="1"/>
          <p:nvPr/>
        </p:nvSpPr>
        <p:spPr>
          <a:xfrm>
            <a:off x="10058400" y="207111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7</a:t>
            </a:r>
            <a:endParaRPr lang="en-US" sz="1100" dirty="0"/>
          </a:p>
        </p:txBody>
      </p:sp>
      <p:sp>
        <p:nvSpPr>
          <p:cNvPr id="37" name="Explanation and result title"/>
          <p:cNvSpPr txBox="1"/>
          <p:nvPr/>
        </p:nvSpPr>
        <p:spPr>
          <a:xfrm>
            <a:off x="10451592" y="2052828"/>
            <a:ext cx="1207008" cy="347472"/>
          </a:xfrm>
          <a:prstGeom prst="rect">
            <a:avLst/>
          </a:prstGeom>
          <a:noFill/>
          <a:ln/>
        </p:spPr>
        <p:txBody>
          <a:bodyPr wrap="square" lIns="0" tIns="0" rIns="0" bIns="0" rtlCol="0" anchor="ctr"/>
          <a:lstStyle/>
          <a:p>
            <a:pPr indent="0" marL="0">
              <a:buNone/>
            </a:pPr>
            <a:r>
              <a:rPr lang="en-US" sz="1300" b="1" dirty="0">
                <a:solidFill>
                  <a:srgbClr val="FFFFFF"/>
                </a:solidFill>
              </a:rPr>
              <a:t>Explanation &amp; Result</a:t>
            </a:r>
            <a:endParaRPr lang="en-US" sz="1300" dirty="0"/>
          </a:p>
        </p:txBody>
      </p:sp>
      <p:sp>
        <p:nvSpPr>
          <p:cNvPr id="38" name="Explanation and result text"/>
          <p:cNvSpPr txBox="1"/>
          <p:nvPr/>
        </p:nvSpPr>
        <p:spPr>
          <a:xfrm>
            <a:off x="10085832" y="2473452"/>
            <a:ext cx="1554480" cy="2139696"/>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CBD5E1"/>
                </a:solidFill>
              </a:rPr>
              <a:t>Best location and confidence</a:t>
            </a:r>
            <a:endParaRPr lang="en-US" sz="1100" dirty="0"/>
          </a:p>
          <a:p>
            <a:pPr marL="152400" indent="-152400">
              <a:spcAft>
                <a:spcPts val="400"/>
              </a:spcAft>
              <a:buSzPct val="100000"/>
              <a:buChar char="•"/>
            </a:pPr>
            <a:r>
              <a:rPr lang="en-US" sz="1100" dirty="0">
                <a:solidFill>
                  <a:srgbClr val="CBD5E1"/>
                </a:solidFill>
              </a:rPr>
              <a:t>Rule applied</a:t>
            </a:r>
            <a:endParaRPr lang="en-US" sz="1100" dirty="0"/>
          </a:p>
          <a:p>
            <a:pPr marL="152400" indent="-152400">
              <a:spcAft>
                <a:spcPts val="400"/>
              </a:spcAft>
              <a:buSzPct val="100000"/>
              <a:buChar char="•"/>
            </a:pPr>
            <a:r>
              <a:rPr lang="en-US" sz="1100" dirty="0">
                <a:solidFill>
                  <a:srgbClr val="CBD5E1"/>
                </a:solidFill>
              </a:rPr>
              <a:t>Alternative locations</a:t>
            </a:r>
            <a:endParaRPr lang="en-US" sz="1100" dirty="0"/>
          </a:p>
          <a:p>
            <a:pPr marL="152400" indent="-152400">
              <a:spcAft>
                <a:spcPts val="400"/>
              </a:spcAft>
              <a:buSzPct val="100000"/>
              <a:buChar char="•"/>
            </a:pPr>
            <a:r>
              <a:rPr lang="en-US" sz="1100" dirty="0">
                <a:solidFill>
                  <a:srgbClr val="CBD5E1"/>
                </a:solidFill>
              </a:rPr>
              <a:t>Full reasoning trace</a:t>
            </a:r>
            <a:endParaRPr lang="en-US" sz="1100" dirty="0"/>
          </a:p>
        </p:txBody>
      </p:sp>
      <p:sp>
        <p:nvSpPr>
          <p:cNvPr id="39" name="Arrow user-factgen"/>
          <p:cNvSpPr/>
          <p:nvPr/>
        </p:nvSpPr>
        <p:spPr>
          <a:xfrm>
            <a:off x="2240280" y="3314700"/>
            <a:ext cx="365760" cy="0"/>
          </a:xfrm>
          <a:prstGeom prst="line">
            <a:avLst/>
          </a:prstGeom>
          <a:noFill/>
          <a:ln w="22225">
            <a:solidFill>
              <a:srgbClr val="22D3EE"/>
            </a:solidFill>
            <a:prstDash val="solid"/>
            <a:tailEnd type="triangle"/>
          </a:ln>
        </p:spPr>
      </p:sp>
      <p:sp>
        <p:nvSpPr>
          <p:cNvPr id="40" name="Arrow factgen-module 1"/>
          <p:cNvSpPr/>
          <p:nvPr/>
        </p:nvSpPr>
        <p:spPr>
          <a:xfrm flipV="1">
            <a:off x="4434840" y="2217420"/>
            <a:ext cx="365760" cy="1097280"/>
          </a:xfrm>
          <a:prstGeom prst="line">
            <a:avLst/>
          </a:prstGeom>
          <a:noFill/>
          <a:ln w="19050">
            <a:solidFill>
              <a:srgbClr val="22D3EE"/>
            </a:solidFill>
            <a:prstDash val="solid"/>
            <a:tailEnd type="triangle"/>
          </a:ln>
        </p:spPr>
      </p:sp>
      <p:sp>
        <p:nvSpPr>
          <p:cNvPr id="41" name="Arrow factgen-module 2"/>
          <p:cNvSpPr/>
          <p:nvPr/>
        </p:nvSpPr>
        <p:spPr>
          <a:xfrm>
            <a:off x="4434840" y="3314700"/>
            <a:ext cx="365760" cy="0"/>
          </a:xfrm>
          <a:prstGeom prst="line">
            <a:avLst/>
          </a:prstGeom>
          <a:noFill/>
          <a:ln w="19050">
            <a:solidFill>
              <a:srgbClr val="22D3EE"/>
            </a:solidFill>
            <a:prstDash val="solid"/>
            <a:tailEnd type="triangle"/>
          </a:ln>
        </p:spPr>
      </p:sp>
      <p:sp>
        <p:nvSpPr>
          <p:cNvPr id="42" name="Arrow factgen-module 3"/>
          <p:cNvSpPr/>
          <p:nvPr/>
        </p:nvSpPr>
        <p:spPr>
          <a:xfrm>
            <a:off x="4434840" y="3314700"/>
            <a:ext cx="365760" cy="1097280"/>
          </a:xfrm>
          <a:prstGeom prst="line">
            <a:avLst/>
          </a:prstGeom>
          <a:noFill/>
          <a:ln w="19050">
            <a:solidFill>
              <a:srgbClr val="22D3EE"/>
            </a:solidFill>
            <a:prstDash val="solid"/>
            <a:tailEnd type="triangle"/>
          </a:ln>
        </p:spPr>
      </p:sp>
      <p:sp>
        <p:nvSpPr>
          <p:cNvPr id="43" name="Arrow module-engine 1"/>
          <p:cNvSpPr/>
          <p:nvPr/>
        </p:nvSpPr>
        <p:spPr>
          <a:xfrm>
            <a:off x="7178040" y="2217420"/>
            <a:ext cx="365760" cy="1097280"/>
          </a:xfrm>
          <a:prstGeom prst="line">
            <a:avLst/>
          </a:prstGeom>
          <a:noFill/>
          <a:ln w="19050">
            <a:solidFill>
              <a:srgbClr val="22D3EE"/>
            </a:solidFill>
            <a:prstDash val="solid"/>
            <a:tailEnd type="triangle"/>
          </a:ln>
        </p:spPr>
      </p:sp>
      <p:sp>
        <p:nvSpPr>
          <p:cNvPr id="44" name="Arrow module-engine 2"/>
          <p:cNvSpPr/>
          <p:nvPr/>
        </p:nvSpPr>
        <p:spPr>
          <a:xfrm>
            <a:off x="7178040" y="3314700"/>
            <a:ext cx="365760" cy="0"/>
          </a:xfrm>
          <a:prstGeom prst="line">
            <a:avLst/>
          </a:prstGeom>
          <a:noFill/>
          <a:ln w="19050">
            <a:solidFill>
              <a:srgbClr val="22D3EE"/>
            </a:solidFill>
            <a:prstDash val="solid"/>
            <a:tailEnd type="triangle"/>
          </a:ln>
        </p:spPr>
      </p:sp>
      <p:sp>
        <p:nvSpPr>
          <p:cNvPr id="45" name="Arrow module-engine 3"/>
          <p:cNvSpPr/>
          <p:nvPr/>
        </p:nvSpPr>
        <p:spPr>
          <a:xfrm flipV="1">
            <a:off x="7178040" y="3314700"/>
            <a:ext cx="365760" cy="1097280"/>
          </a:xfrm>
          <a:prstGeom prst="line">
            <a:avLst/>
          </a:prstGeom>
          <a:noFill/>
          <a:ln w="19050">
            <a:solidFill>
              <a:srgbClr val="22D3EE"/>
            </a:solidFill>
            <a:prstDash val="solid"/>
            <a:tailEnd type="triangle"/>
          </a:ln>
        </p:spPr>
      </p:sp>
      <p:sp>
        <p:nvSpPr>
          <p:cNvPr id="46" name="Arrow engine-output"/>
          <p:cNvSpPr/>
          <p:nvPr/>
        </p:nvSpPr>
        <p:spPr>
          <a:xfrm>
            <a:off x="9555480" y="3314700"/>
            <a:ext cx="365760" cy="0"/>
          </a:xfrm>
          <a:prstGeom prst="line">
            <a:avLst/>
          </a:prstGeom>
          <a:noFill/>
          <a:ln w="22225">
            <a:solidFill>
              <a:srgbClr val="22D3EE"/>
            </a:solidFill>
            <a:prstDash val="solid"/>
            <a:tailEnd type="triangle"/>
          </a:ln>
        </p:spPr>
      </p:sp>
      <p:sp>
        <p:nvSpPr>
          <p:cNvPr id="47" name="Legend dot Input / output"/>
          <p:cNvSpPr/>
          <p:nvPr/>
        </p:nvSpPr>
        <p:spPr>
          <a:xfrm>
            <a:off x="640080" y="5193792"/>
            <a:ext cx="219456" cy="219456"/>
          </a:xfrm>
          <a:prstGeom prst="ellipse">
            <a:avLst/>
          </a:prstGeom>
          <a:solidFill>
            <a:srgbClr val="3B82F6"/>
          </a:solidFill>
          <a:ln w="12700">
            <a:solidFill>
              <a:srgbClr val="3B82F6"/>
            </a:solidFill>
            <a:prstDash val="solid"/>
          </a:ln>
        </p:spPr>
      </p:sp>
      <p:sp>
        <p:nvSpPr>
          <p:cNvPr id="48" name="Text 46"/>
          <p:cNvSpPr txBox="1"/>
          <p:nvPr/>
        </p:nvSpPr>
        <p:spPr>
          <a:xfrm>
            <a:off x="960120" y="5148072"/>
            <a:ext cx="2194560" cy="310896"/>
          </a:xfrm>
          <a:prstGeom prst="rect">
            <a:avLst/>
          </a:prstGeom>
          <a:noFill/>
          <a:ln/>
        </p:spPr>
        <p:txBody>
          <a:bodyPr wrap="square" lIns="0" tIns="0" rIns="0" bIns="0" rtlCol="0" anchor="ctr"/>
          <a:lstStyle/>
          <a:p>
            <a:pPr indent="0" marL="0">
              <a:buNone/>
            </a:pPr>
            <a:r>
              <a:rPr lang="en-US" sz="1100" dirty="0">
                <a:solidFill>
                  <a:srgbClr val="CBD5E1"/>
                </a:solidFill>
              </a:rPr>
              <a:t>Input / output</a:t>
            </a:r>
            <a:endParaRPr lang="en-US" sz="1100" dirty="0"/>
          </a:p>
        </p:txBody>
      </p:sp>
      <p:sp>
        <p:nvSpPr>
          <p:cNvPr id="49" name="Legend dot Processing"/>
          <p:cNvSpPr/>
          <p:nvPr/>
        </p:nvSpPr>
        <p:spPr>
          <a:xfrm>
            <a:off x="3383280" y="5193792"/>
            <a:ext cx="219456" cy="219456"/>
          </a:xfrm>
          <a:prstGeom prst="ellipse">
            <a:avLst/>
          </a:prstGeom>
          <a:solidFill>
            <a:srgbClr val="EAB308"/>
          </a:solidFill>
          <a:ln w="12700">
            <a:solidFill>
              <a:srgbClr val="EAB308"/>
            </a:solidFill>
            <a:prstDash val="solid"/>
          </a:ln>
        </p:spPr>
      </p:sp>
      <p:sp>
        <p:nvSpPr>
          <p:cNvPr id="50" name="Text 48"/>
          <p:cNvSpPr txBox="1"/>
          <p:nvPr/>
        </p:nvSpPr>
        <p:spPr>
          <a:xfrm>
            <a:off x="3703320" y="5148072"/>
            <a:ext cx="2194560" cy="310896"/>
          </a:xfrm>
          <a:prstGeom prst="rect">
            <a:avLst/>
          </a:prstGeom>
          <a:noFill/>
          <a:ln/>
        </p:spPr>
        <p:txBody>
          <a:bodyPr wrap="square" lIns="0" tIns="0" rIns="0" bIns="0" rtlCol="0" anchor="ctr"/>
          <a:lstStyle/>
          <a:p>
            <a:pPr indent="0" marL="0">
              <a:buNone/>
            </a:pPr>
            <a:r>
              <a:rPr lang="en-US" sz="1100" dirty="0">
                <a:solidFill>
                  <a:srgbClr val="CBD5E1"/>
                </a:solidFill>
              </a:rPr>
              <a:t>Processing</a:t>
            </a:r>
            <a:endParaRPr lang="en-US" sz="1100" dirty="0"/>
          </a:p>
        </p:txBody>
      </p:sp>
      <p:sp>
        <p:nvSpPr>
          <p:cNvPr id="51" name="Legend dot Data modules"/>
          <p:cNvSpPr/>
          <p:nvPr/>
        </p:nvSpPr>
        <p:spPr>
          <a:xfrm>
            <a:off x="5852160" y="5193792"/>
            <a:ext cx="219456" cy="219456"/>
          </a:xfrm>
          <a:prstGeom prst="ellipse">
            <a:avLst/>
          </a:prstGeom>
          <a:solidFill>
            <a:srgbClr val="22C55E"/>
          </a:solidFill>
          <a:ln w="12700">
            <a:solidFill>
              <a:srgbClr val="22C55E"/>
            </a:solidFill>
            <a:prstDash val="solid"/>
          </a:ln>
        </p:spPr>
      </p:sp>
      <p:sp>
        <p:nvSpPr>
          <p:cNvPr id="52" name="Text 50"/>
          <p:cNvSpPr txBox="1"/>
          <p:nvPr/>
        </p:nvSpPr>
        <p:spPr>
          <a:xfrm>
            <a:off x="6172200" y="5148072"/>
            <a:ext cx="2194560" cy="310896"/>
          </a:xfrm>
          <a:prstGeom prst="rect">
            <a:avLst/>
          </a:prstGeom>
          <a:noFill/>
          <a:ln/>
        </p:spPr>
        <p:txBody>
          <a:bodyPr wrap="square" lIns="0" tIns="0" rIns="0" bIns="0" rtlCol="0" anchor="ctr"/>
          <a:lstStyle/>
          <a:p>
            <a:pPr indent="0" marL="0">
              <a:buNone/>
            </a:pPr>
            <a:r>
              <a:rPr lang="en-US" sz="1100" dirty="0">
                <a:solidFill>
                  <a:srgbClr val="CBD5E1"/>
                </a:solidFill>
              </a:rPr>
              <a:t>Data modules</a:t>
            </a:r>
            <a:endParaRPr lang="en-US" sz="1100" dirty="0"/>
          </a:p>
        </p:txBody>
      </p:sp>
      <p:sp>
        <p:nvSpPr>
          <p:cNvPr id="53" name="Legend dot AI algorithm"/>
          <p:cNvSpPr/>
          <p:nvPr/>
        </p:nvSpPr>
        <p:spPr>
          <a:xfrm>
            <a:off x="8595360" y="5193792"/>
            <a:ext cx="219456" cy="219456"/>
          </a:xfrm>
          <a:prstGeom prst="ellipse">
            <a:avLst/>
          </a:prstGeom>
          <a:solidFill>
            <a:srgbClr val="EF4444"/>
          </a:solidFill>
          <a:ln w="12700">
            <a:solidFill>
              <a:srgbClr val="EF4444"/>
            </a:solidFill>
            <a:prstDash val="solid"/>
          </a:ln>
        </p:spPr>
      </p:sp>
      <p:sp>
        <p:nvSpPr>
          <p:cNvPr id="54" name="Text 52"/>
          <p:cNvSpPr txBox="1"/>
          <p:nvPr/>
        </p:nvSpPr>
        <p:spPr>
          <a:xfrm>
            <a:off x="8915400" y="5148072"/>
            <a:ext cx="2194560" cy="310896"/>
          </a:xfrm>
          <a:prstGeom prst="rect">
            <a:avLst/>
          </a:prstGeom>
          <a:noFill/>
          <a:ln/>
        </p:spPr>
        <p:txBody>
          <a:bodyPr wrap="square" lIns="0" tIns="0" rIns="0" bIns="0" rtlCol="0" anchor="ctr"/>
          <a:lstStyle/>
          <a:p>
            <a:pPr indent="0" marL="0">
              <a:buNone/>
            </a:pPr>
            <a:r>
              <a:rPr lang="en-US" sz="1100" dirty="0">
                <a:solidFill>
                  <a:srgbClr val="CBD5E1"/>
                </a:solidFill>
              </a:rPr>
              <a:t>AI algorithm</a:t>
            </a:r>
            <a:endParaRPr lang="en-US" sz="1100" dirty="0"/>
          </a:p>
        </p:txBody>
      </p:sp>
      <p:sp>
        <p:nvSpPr>
          <p:cNvPr id="55" name="Goal-directed note"/>
          <p:cNvSpPr/>
          <p:nvPr/>
        </p:nvSpPr>
        <p:spPr>
          <a:xfrm>
            <a:off x="411480" y="5623560"/>
            <a:ext cx="11338560" cy="731520"/>
          </a:xfrm>
          <a:prstGeom prst="roundRect">
            <a:avLst>
              <a:gd name="adj" fmla="val 10000"/>
            </a:avLst>
          </a:prstGeom>
          <a:solidFill>
            <a:srgbClr val="112B4D"/>
          </a:solidFill>
          <a:ln w="12700">
            <a:solidFill>
              <a:srgbClr val="22D3EE"/>
            </a:solidFill>
            <a:prstDash val="solid"/>
          </a:ln>
        </p:spPr>
      </p:sp>
      <p:sp>
        <p:nvSpPr>
          <p:cNvPr id="56" name="Text 54"/>
          <p:cNvSpPr txBox="1"/>
          <p:nvPr/>
        </p:nvSpPr>
        <p:spPr>
          <a:xfrm>
            <a:off x="640080" y="5623560"/>
            <a:ext cx="10881360" cy="731520"/>
          </a:xfrm>
          <a:prstGeom prst="rect">
            <a:avLst/>
          </a:prstGeom>
          <a:noFill/>
          <a:ln/>
        </p:spPr>
        <p:txBody>
          <a:bodyPr wrap="square" lIns="0" tIns="0" rIns="0" bIns="0" rtlCol="0" anchor="ctr"/>
          <a:lstStyle/>
          <a:p>
            <a:pPr indent="0" marL="0">
              <a:buNone/>
            </a:pPr>
            <a:r>
              <a:rPr lang="en-US" sz="1200" b="1" dirty="0">
                <a:solidFill>
                  <a:srgbClr val="22D3EE"/>
                </a:solidFill>
              </a:rPr>
              <a:t>Goal-directed: </a:t>
            </a:r>
            <a:pPr indent="0" marL="0">
              <a:buNone/>
            </a:pPr>
            <a:r>
              <a:rPr lang="en-US" sz="1200" dirty="0">
                <a:solidFill>
                  <a:srgbClr val="FFFFFF"/>
                </a:solidFill>
              </a:rPr>
              <a:t>a question is asked only when it is needed to prove the current hypothesis. If nothing is proved, fallback rule R6 suggests the item's usual places at 0.30.</a:t>
            </a:r>
            <a:endParaRPr lang="en-US" sz="12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BD5E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594360"/>
          </a:xfrm>
          <a:prstGeom prst="rect">
            <a:avLst/>
          </a:prstGeom>
          <a:noFill/>
          <a:ln/>
        </p:spPr>
        <p:txBody>
          <a:bodyPr wrap="square" lIns="0" tIns="0" rIns="0" bIns="0" rtlCol="0" anchor="ctr"/>
          <a:lstStyle/>
          <a:p>
            <a:pPr algn="l" indent="0" marL="0">
              <a:buNone/>
            </a:pPr>
            <a:r>
              <a:rPr lang="en-US" sz="3000" b="1" dirty="0">
                <a:solidFill>
                  <a:srgbClr val="0B1F3A"/>
                </a:solidFill>
              </a:rPr>
              <a:t>Knowledge Base and Backward Chaining</a:t>
            </a:r>
            <a:endParaRPr lang="en-US" sz="3000" dirty="0"/>
          </a:p>
        </p:txBody>
      </p:sp>
      <p:sp>
        <p:nvSpPr>
          <p:cNvPr id="3" name="Subtitle"/>
          <p:cNvSpPr txBox="1"/>
          <p:nvPr/>
        </p:nvSpPr>
        <p:spPr>
          <a:xfrm>
            <a:off x="548640" y="914400"/>
            <a:ext cx="11064240" cy="365760"/>
          </a:xfrm>
          <a:prstGeom prst="rect">
            <a:avLst/>
          </a:prstGeom>
          <a:noFill/>
          <a:ln/>
        </p:spPr>
        <p:txBody>
          <a:bodyPr wrap="square" lIns="0" tIns="0" rIns="0" bIns="0" rtlCol="0" anchor="ctr"/>
          <a:lstStyle/>
          <a:p>
            <a:pPr indent="0" marL="0">
              <a:buNone/>
            </a:pPr>
            <a:r>
              <a:rPr lang="en-US" sz="1500" dirty="0">
                <a:solidFill>
                  <a:srgbClr val="14B8A6"/>
                </a:solidFill>
              </a:rPr>
              <a:t>How the Location Is Inferred</a:t>
            </a:r>
            <a:endParaRPr lang="en-US" sz="1500" dirty="0"/>
          </a:p>
        </p:txBody>
      </p:sp>
      <p:sp>
        <p:nvSpPr>
          <p:cNvPr id="4" name="Column card 1"/>
          <p:cNvSpPr/>
          <p:nvPr/>
        </p:nvSpPr>
        <p:spPr>
          <a:xfrm>
            <a:off x="548640" y="1554480"/>
            <a:ext cx="3502152" cy="4663440"/>
          </a:xfrm>
          <a:prstGeom prst="roundRect">
            <a:avLst>
              <a:gd name="adj" fmla="val 2089"/>
            </a:avLst>
          </a:prstGeom>
          <a:solidFill>
            <a:srgbClr val="FFFFFF"/>
          </a:solidFill>
          <a:ln w="12700">
            <a:solidFill>
              <a:srgbClr val="D8E0E8"/>
            </a:solidFill>
            <a:prstDash val="solid"/>
          </a:ln>
        </p:spPr>
      </p:sp>
      <p:sp>
        <p:nvSpPr>
          <p:cNvPr id="5" name="Column icon circle 1"/>
          <p:cNvSpPr/>
          <p:nvPr/>
        </p:nvSpPr>
        <p:spPr>
          <a:xfrm>
            <a:off x="731520" y="1691640"/>
            <a:ext cx="384048" cy="384048"/>
          </a:xfrm>
          <a:prstGeom prst="ellipse">
            <a:avLst/>
          </a:prstGeom>
          <a:solidFill>
            <a:srgbClr val="E6FAF8"/>
          </a:solidFill>
          <a:ln w="12700">
            <a:solidFill>
              <a:srgbClr val="E6FAF8"/>
            </a:solidFill>
            <a:prstDash val="solid"/>
          </a:ln>
        </p:spPr>
      </p:sp>
      <p:pic>
        <p:nvPicPr>
          <p:cNvPr id="6" name="Image 0" descr="Facts and Rules icon">    </p:cNvPr>
          <p:cNvPicPr>
            <a:picLocks noChangeAspect="1"/>
          </p:cNvPicPr>
          <p:nvPr/>
        </p:nvPicPr>
        <p:blipFill>
          <a:blip r:embed="rId1"/>
          <a:stretch>
            <a:fillRect/>
          </a:stretch>
        </p:blipFill>
        <p:spPr>
          <a:xfrm>
            <a:off x="822960" y="1783080"/>
            <a:ext cx="201168" cy="201168"/>
          </a:xfrm>
          <a:prstGeom prst="rect">
            <a:avLst/>
          </a:prstGeom>
        </p:spPr>
      </p:pic>
      <p:sp>
        <p:nvSpPr>
          <p:cNvPr id="7" name="Text 4"/>
          <p:cNvSpPr txBox="1"/>
          <p:nvPr/>
        </p:nvSpPr>
        <p:spPr>
          <a:xfrm>
            <a:off x="1234440" y="1691640"/>
            <a:ext cx="2633472" cy="384048"/>
          </a:xfrm>
          <a:prstGeom prst="rect">
            <a:avLst/>
          </a:prstGeom>
          <a:noFill/>
          <a:ln/>
        </p:spPr>
        <p:txBody>
          <a:bodyPr wrap="square" lIns="0" tIns="0" rIns="0" bIns="0" rtlCol="0" anchor="ctr"/>
          <a:lstStyle/>
          <a:p>
            <a:pPr indent="0" marL="0">
              <a:buNone/>
            </a:pPr>
            <a:r>
              <a:rPr lang="en-US" sz="1500" b="1" dirty="0">
                <a:solidFill>
                  <a:srgbClr val="0B1F3A"/>
                </a:solidFill>
              </a:rPr>
              <a:t>Facts and Rules</a:t>
            </a:r>
            <a:endParaRPr lang="en-US" sz="1500" dirty="0"/>
          </a:p>
        </p:txBody>
      </p:sp>
      <p:sp>
        <p:nvSpPr>
          <p:cNvPr id="8" name="Column card 2"/>
          <p:cNvSpPr/>
          <p:nvPr/>
        </p:nvSpPr>
        <p:spPr>
          <a:xfrm>
            <a:off x="4343400" y="1554480"/>
            <a:ext cx="3502152" cy="4663440"/>
          </a:xfrm>
          <a:prstGeom prst="roundRect">
            <a:avLst>
              <a:gd name="adj" fmla="val 2089"/>
            </a:avLst>
          </a:prstGeom>
          <a:solidFill>
            <a:srgbClr val="FFFFFF"/>
          </a:solidFill>
          <a:ln w="12700">
            <a:solidFill>
              <a:srgbClr val="D8E0E8"/>
            </a:solidFill>
            <a:prstDash val="solid"/>
          </a:ln>
        </p:spPr>
      </p:sp>
      <p:sp>
        <p:nvSpPr>
          <p:cNvPr id="9" name="Column icon circle 2"/>
          <p:cNvSpPr/>
          <p:nvPr/>
        </p:nvSpPr>
        <p:spPr>
          <a:xfrm>
            <a:off x="4526280" y="1691640"/>
            <a:ext cx="384048" cy="384048"/>
          </a:xfrm>
          <a:prstGeom prst="ellipse">
            <a:avLst/>
          </a:prstGeom>
          <a:solidFill>
            <a:srgbClr val="E6FAF8"/>
          </a:solidFill>
          <a:ln w="12700">
            <a:solidFill>
              <a:srgbClr val="E6FAF8"/>
            </a:solidFill>
            <a:prstDash val="solid"/>
          </a:ln>
        </p:spPr>
      </p:sp>
      <p:pic>
        <p:nvPicPr>
          <p:cNvPr id="10" name="Image 1" descr="Backward Chaining icon">    </p:cNvPr>
          <p:cNvPicPr>
            <a:picLocks noChangeAspect="1"/>
          </p:cNvPicPr>
          <p:nvPr/>
        </p:nvPicPr>
        <p:blipFill>
          <a:blip r:embed="rId2"/>
          <a:stretch>
            <a:fillRect/>
          </a:stretch>
        </p:blipFill>
        <p:spPr>
          <a:xfrm>
            <a:off x="4617720" y="1783080"/>
            <a:ext cx="201168" cy="201168"/>
          </a:xfrm>
          <a:prstGeom prst="rect">
            <a:avLst/>
          </a:prstGeom>
        </p:spPr>
      </p:pic>
      <p:sp>
        <p:nvSpPr>
          <p:cNvPr id="11" name="Text 7"/>
          <p:cNvSpPr txBox="1"/>
          <p:nvPr/>
        </p:nvSpPr>
        <p:spPr>
          <a:xfrm>
            <a:off x="5029200" y="1691640"/>
            <a:ext cx="2633472" cy="384048"/>
          </a:xfrm>
          <a:prstGeom prst="rect">
            <a:avLst/>
          </a:prstGeom>
          <a:noFill/>
          <a:ln/>
        </p:spPr>
        <p:txBody>
          <a:bodyPr wrap="square" lIns="0" tIns="0" rIns="0" bIns="0" rtlCol="0" anchor="ctr"/>
          <a:lstStyle/>
          <a:p>
            <a:pPr indent="0" marL="0">
              <a:buNone/>
            </a:pPr>
            <a:r>
              <a:rPr lang="en-US" sz="1500" b="1" dirty="0">
                <a:solidFill>
                  <a:srgbClr val="0B1F3A"/>
                </a:solidFill>
              </a:rPr>
              <a:t>Backward Chaining</a:t>
            </a:r>
            <a:endParaRPr lang="en-US" sz="1500" dirty="0"/>
          </a:p>
        </p:txBody>
      </p:sp>
      <p:sp>
        <p:nvSpPr>
          <p:cNvPr id="12" name="Column card 3"/>
          <p:cNvSpPr/>
          <p:nvPr/>
        </p:nvSpPr>
        <p:spPr>
          <a:xfrm>
            <a:off x="8138160" y="1554480"/>
            <a:ext cx="3502152" cy="4663440"/>
          </a:xfrm>
          <a:prstGeom prst="roundRect">
            <a:avLst>
              <a:gd name="adj" fmla="val 2089"/>
            </a:avLst>
          </a:prstGeom>
          <a:solidFill>
            <a:srgbClr val="FFFFFF"/>
          </a:solidFill>
          <a:ln w="12700">
            <a:solidFill>
              <a:srgbClr val="D8E0E8"/>
            </a:solidFill>
            <a:prstDash val="solid"/>
          </a:ln>
        </p:spPr>
      </p:sp>
      <p:sp>
        <p:nvSpPr>
          <p:cNvPr id="13" name="Column icon circle 3"/>
          <p:cNvSpPr/>
          <p:nvPr/>
        </p:nvSpPr>
        <p:spPr>
          <a:xfrm>
            <a:off x="8321040" y="1691640"/>
            <a:ext cx="384048" cy="384048"/>
          </a:xfrm>
          <a:prstGeom prst="ellipse">
            <a:avLst/>
          </a:prstGeom>
          <a:solidFill>
            <a:srgbClr val="E6FAF8"/>
          </a:solidFill>
          <a:ln w="12700">
            <a:solidFill>
              <a:srgbClr val="E6FAF8"/>
            </a:solidFill>
            <a:prstDash val="solid"/>
          </a:ln>
        </p:spPr>
      </p:sp>
      <p:pic>
        <p:nvPicPr>
          <p:cNvPr id="14" name="Image 2" descr="Certainty and Stopping icon">    </p:cNvPr>
          <p:cNvPicPr>
            <a:picLocks noChangeAspect="1"/>
          </p:cNvPicPr>
          <p:nvPr/>
        </p:nvPicPr>
        <p:blipFill>
          <a:blip r:embed="rId3"/>
          <a:stretch>
            <a:fillRect/>
          </a:stretch>
        </p:blipFill>
        <p:spPr>
          <a:xfrm>
            <a:off x="8412480" y="1783080"/>
            <a:ext cx="201168" cy="201168"/>
          </a:xfrm>
          <a:prstGeom prst="rect">
            <a:avLst/>
          </a:prstGeom>
        </p:spPr>
      </p:pic>
      <p:sp>
        <p:nvSpPr>
          <p:cNvPr id="15" name="Text 10"/>
          <p:cNvSpPr txBox="1"/>
          <p:nvPr/>
        </p:nvSpPr>
        <p:spPr>
          <a:xfrm>
            <a:off x="8823960" y="1691640"/>
            <a:ext cx="2633472" cy="384048"/>
          </a:xfrm>
          <a:prstGeom prst="rect">
            <a:avLst/>
          </a:prstGeom>
          <a:noFill/>
          <a:ln/>
        </p:spPr>
        <p:txBody>
          <a:bodyPr wrap="square" lIns="0" tIns="0" rIns="0" bIns="0" rtlCol="0" anchor="ctr"/>
          <a:lstStyle/>
          <a:p>
            <a:pPr indent="0" marL="0">
              <a:buNone/>
            </a:pPr>
            <a:r>
              <a:rPr lang="en-US" sz="1500" b="1" dirty="0">
                <a:solidFill>
                  <a:srgbClr val="0B1F3A"/>
                </a:solidFill>
              </a:rPr>
              <a:t>Certainty and Stopping</a:t>
            </a:r>
            <a:endParaRPr lang="en-US" sz="1500" dirty="0"/>
          </a:p>
        </p:txBody>
      </p:sp>
      <p:sp>
        <p:nvSpPr>
          <p:cNvPr id="16" name="Rule band"/>
          <p:cNvSpPr/>
          <p:nvPr/>
        </p:nvSpPr>
        <p:spPr>
          <a:xfrm>
            <a:off x="731520" y="2286000"/>
            <a:ext cx="3136392" cy="502920"/>
          </a:xfrm>
          <a:prstGeom prst="roundRect">
            <a:avLst>
              <a:gd name="adj" fmla="val 10909"/>
            </a:avLst>
          </a:prstGeom>
          <a:solidFill>
            <a:srgbClr val="0B1F3A"/>
          </a:solidFill>
          <a:ln w="12700">
            <a:solidFill>
              <a:srgbClr val="0B1F3A"/>
            </a:solidFill>
            <a:prstDash val="solid"/>
          </a:ln>
        </p:spPr>
      </p:sp>
      <p:sp>
        <p:nvSpPr>
          <p:cNvPr id="17" name="Text 12"/>
          <p:cNvSpPr txBox="1"/>
          <p:nvPr/>
        </p:nvSpPr>
        <p:spPr>
          <a:xfrm>
            <a:off x="731520" y="2286000"/>
            <a:ext cx="3136392" cy="502920"/>
          </a:xfrm>
          <a:prstGeom prst="rect">
            <a:avLst/>
          </a:prstGeom>
          <a:noFill/>
          <a:ln/>
        </p:spPr>
        <p:txBody>
          <a:bodyPr wrap="square" lIns="0" tIns="0" rIns="0" bIns="0" rtlCol="0" anchor="ctr"/>
          <a:lstStyle/>
          <a:p>
            <a:pPr algn="ctr" indent="0" marL="0">
              <a:buNone/>
            </a:pPr>
            <a:r>
              <a:rPr lang="en-US" sz="1100" b="1" dirty="0">
                <a:solidFill>
                  <a:srgbClr val="22D3EE"/>
                </a:solidFill>
              </a:rPr>
              <a:t>Removed(?i,?c) ∧ RemovedAt(?i,?l) → LikelyAt(?i,?l)</a:t>
            </a:r>
            <a:endParaRPr lang="en-US" sz="1100" dirty="0"/>
          </a:p>
        </p:txBody>
      </p:sp>
      <p:sp>
        <p:nvSpPr>
          <p:cNvPr id="18" name="Goal band"/>
          <p:cNvSpPr/>
          <p:nvPr/>
        </p:nvSpPr>
        <p:spPr>
          <a:xfrm>
            <a:off x="4526280" y="2286000"/>
            <a:ext cx="3136392" cy="502920"/>
          </a:xfrm>
          <a:prstGeom prst="roundRect">
            <a:avLst>
              <a:gd name="adj" fmla="val 10909"/>
            </a:avLst>
          </a:prstGeom>
          <a:solidFill>
            <a:srgbClr val="0B1F3A"/>
          </a:solidFill>
          <a:ln w="12700">
            <a:solidFill>
              <a:srgbClr val="0B1F3A"/>
            </a:solidFill>
            <a:prstDash val="solid"/>
          </a:ln>
        </p:spPr>
      </p:sp>
      <p:sp>
        <p:nvSpPr>
          <p:cNvPr id="19" name="Text 14"/>
          <p:cNvSpPr txBox="1"/>
          <p:nvPr/>
        </p:nvSpPr>
        <p:spPr>
          <a:xfrm>
            <a:off x="4526280" y="2286000"/>
            <a:ext cx="3136392" cy="502920"/>
          </a:xfrm>
          <a:prstGeom prst="rect">
            <a:avLst/>
          </a:prstGeom>
          <a:noFill/>
          <a:ln/>
        </p:spPr>
        <p:txBody>
          <a:bodyPr wrap="square" lIns="0" tIns="0" rIns="0" bIns="0" rtlCol="0" anchor="ctr"/>
          <a:lstStyle/>
          <a:p>
            <a:pPr algn="ctr" indent="0" marL="0">
              <a:buNone/>
            </a:pPr>
            <a:r>
              <a:rPr lang="en-US" sz="1100" b="1" dirty="0">
                <a:solidFill>
                  <a:srgbClr val="22D3EE"/>
                </a:solidFill>
              </a:rPr>
              <a:t>Goal: LikelyAt(ID, ?l)</a:t>
            </a:r>
            <a:endParaRPr lang="en-US" sz="1100" dirty="0"/>
          </a:p>
        </p:txBody>
      </p:sp>
      <p:sp>
        <p:nvSpPr>
          <p:cNvPr id="20" name="Stop band"/>
          <p:cNvSpPr/>
          <p:nvPr/>
        </p:nvSpPr>
        <p:spPr>
          <a:xfrm>
            <a:off x="8321040" y="2286000"/>
            <a:ext cx="3136392" cy="502920"/>
          </a:xfrm>
          <a:prstGeom prst="roundRect">
            <a:avLst>
              <a:gd name="adj" fmla="val 10909"/>
            </a:avLst>
          </a:prstGeom>
          <a:solidFill>
            <a:srgbClr val="0B1F3A"/>
          </a:solidFill>
          <a:ln w="12700">
            <a:solidFill>
              <a:srgbClr val="0B1F3A"/>
            </a:solidFill>
            <a:prstDash val="solid"/>
          </a:ln>
        </p:spPr>
      </p:sp>
      <p:sp>
        <p:nvSpPr>
          <p:cNvPr id="21" name="Text 16"/>
          <p:cNvSpPr txBox="1"/>
          <p:nvPr/>
        </p:nvSpPr>
        <p:spPr>
          <a:xfrm>
            <a:off x="8321040" y="2286000"/>
            <a:ext cx="3136392" cy="502920"/>
          </a:xfrm>
          <a:prstGeom prst="rect">
            <a:avLst/>
          </a:prstGeom>
          <a:noFill/>
          <a:ln/>
        </p:spPr>
        <p:txBody>
          <a:bodyPr wrap="square" lIns="0" tIns="0" rIns="0" bIns="0" rtlCol="0" anchor="ctr"/>
          <a:lstStyle/>
          <a:p>
            <a:pPr algn="ctr" indent="0" marL="0">
              <a:buNone/>
            </a:pPr>
            <a:r>
              <a:rPr lang="en-US" sz="1100" b="1" dirty="0">
                <a:solidFill>
                  <a:srgbClr val="22D3EE"/>
                </a:solidFill>
              </a:rPr>
              <a:t>Stop when CF ≥ 0.75</a:t>
            </a:r>
            <a:endParaRPr lang="en-US" sz="1100" dirty="0"/>
          </a:p>
        </p:txBody>
      </p:sp>
      <p:graphicFrame>
        <p:nvGraphicFramePr>
          <p:cNvPr id="6" name="Rules table"/>
          <p:cNvGraphicFramePr>
            <a:graphicFrameLocks noGrp="1"/>
          </p:cNvGraphicFramePr>
          <p:nvPr>
            <p:extLst>
              <p:ext uri="{D42A27DB-BD31-4B8C-83A1-F6EECF244321}">
                <p14:modId xmlns:p14="http://schemas.microsoft.com/office/powerpoint/2010/main" val="1579011935"/>
              </p:ext>
            </p:extLst>
          </p:nvPr>
        </p:nvGraphicFramePr>
        <p:xfrm>
          <a:off x="731520" y="2971800"/>
          <a:ext cx="3136392" cy="914400"/>
        </p:xfrm>
        <a:graphic>
          <a:graphicData uri="http://schemas.openxmlformats.org/drawingml/2006/table">
            <a:tbl>
              <a:tblPr/>
              <a:tblGrid>
                <a:gridCol w="548640"/>
                <a:gridCol w="2148840"/>
                <a:gridCol w="438912"/>
              </a:tblGrid>
              <a:tr h="365760">
                <a:tc>
                  <a:txBody>
                    <a:bodyPr/>
                    <a:lstStyle/>
                    <a:p>
                      <a:pPr algn="l" indent="0" marL="0">
                        <a:buNone/>
                      </a:pPr>
                      <a:r>
                        <a:rPr lang="en-US" sz="1050" b="1" dirty="0">
                          <a:solidFill>
                            <a:srgbClr val="FFFFFF"/>
                          </a:solidFill>
                        </a:rPr>
                        <a:t>Rule</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4B8A6"/>
                    </a:solidFill>
                  </a:tcPr>
                </a:tc>
                <a:tc>
                  <a:txBody>
                    <a:bodyPr/>
                    <a:lstStyle/>
                    <a:p>
                      <a:pPr algn="l" indent="0" marL="0">
                        <a:buNone/>
                      </a:pPr>
                      <a:r>
                        <a:rPr lang="en-US" sz="1050" b="1" dirty="0">
                          <a:solidFill>
                            <a:srgbClr val="FFFFFF"/>
                          </a:solidFill>
                        </a:rPr>
                        <a:t>Meaning</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4B8A6"/>
                    </a:solidFill>
                  </a:tcPr>
                </a:tc>
                <a:tc>
                  <a:txBody>
                    <a:bodyPr/>
                    <a:lstStyle/>
                    <a:p>
                      <a:pPr algn="ctr" indent="0" marL="0">
                        <a:buNone/>
                      </a:pPr>
                      <a:r>
                        <a:rPr lang="en-US" sz="1050" b="1" dirty="0">
                          <a:solidFill>
                            <a:srgbClr val="FFFFFF"/>
                          </a:solidFill>
                        </a:rPr>
                        <a:t>CF</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4B8A6"/>
                    </a:solidFill>
                  </a:tcPr>
                </a:tc>
              </a:tr>
              <a:tr h="365760">
                <a:tc>
                  <a:txBody>
                    <a:bodyPr/>
                    <a:lstStyle/>
                    <a:p>
                      <a:pPr indent="0" marL="0">
                        <a:buNone/>
                      </a:pPr>
                      <a:r>
                        <a:rPr lang="en-US" sz="1050" b="1" dirty="0">
                          <a:solidFill>
                            <a:srgbClr val="334155"/>
                          </a:solidFill>
                        </a:rPr>
                        <a:t>R1</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indent="0" marL="0">
                        <a:buNone/>
                      </a:pPr>
                      <a:r>
                        <a:rPr lang="en-US" sz="1050" dirty="0">
                          <a:solidFill>
                            <a:srgbClr val="334155"/>
                          </a:solidFill>
                        </a:rPr>
                        <a:t>Last used there, not moved</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0.90</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r>
              <a:tr h="365760">
                <a:tc>
                  <a:txBody>
                    <a:bodyPr/>
                    <a:lstStyle/>
                    <a:p>
                      <a:pPr indent="0" marL="0">
                        <a:buNone/>
                      </a:pPr>
                      <a:r>
                        <a:rPr lang="en-US" sz="1050" b="1" dirty="0">
                          <a:solidFill>
                            <a:srgbClr val="334155"/>
                          </a:solidFill>
                        </a:rPr>
                        <a:t>R2</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indent="0" marL="0">
                        <a:buNone/>
                      </a:pPr>
                      <a:r>
                        <a:rPr lang="en-US" sz="1050" dirty="0">
                          <a:solidFill>
                            <a:srgbClr val="334155"/>
                          </a:solidFill>
                        </a:rPr>
                        <a:t>Kept in a container at a place</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0.85</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r>
              <a:tr h="365760">
                <a:tc>
                  <a:txBody>
                    <a:bodyPr/>
                    <a:lstStyle/>
                    <a:p>
                      <a:pPr indent="0" marL="0">
                        <a:buNone/>
                      </a:pPr>
                      <a:r>
                        <a:rPr lang="en-US" sz="1050" b="1" dirty="0">
                          <a:solidFill>
                            <a:srgbClr val="334155"/>
                          </a:solidFill>
                        </a:rPr>
                        <a:t>R3</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indent="0" marL="0">
                        <a:buNone/>
                      </a:pPr>
                      <a:r>
                        <a:rPr lang="en-US" sz="1050" dirty="0">
                          <a:solidFill>
                            <a:srgbClr val="334155"/>
                          </a:solidFill>
                        </a:rPr>
                        <a:t>Taken out at a place</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0.80</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r>
              <a:tr h="365760">
                <a:tc>
                  <a:txBody>
                    <a:bodyPr/>
                    <a:lstStyle/>
                    <a:p>
                      <a:pPr indent="0" marL="0">
                        <a:buNone/>
                      </a:pPr>
                      <a:r>
                        <a:rPr lang="en-US" sz="1050" b="1" dirty="0">
                          <a:solidFill>
                            <a:srgbClr val="334155"/>
                          </a:solidFill>
                        </a:rPr>
                        <a:t>R4</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indent="0" marL="0">
                        <a:buNone/>
                      </a:pPr>
                      <a:r>
                        <a:rPr lang="en-US" sz="1050" dirty="0">
                          <a:solidFill>
                            <a:srgbClr val="334155"/>
                          </a:solidFill>
                        </a:rPr>
                        <a:t>Chargeable and charging there</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0.80</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r>
              <a:tr h="365760">
                <a:tc>
                  <a:txBody>
                    <a:bodyPr/>
                    <a:lstStyle/>
                    <a:p>
                      <a:pPr indent="0" marL="0">
                        <a:buNone/>
                      </a:pPr>
                      <a:r>
                        <a:rPr lang="en-US" sz="1050" b="1" dirty="0">
                          <a:solidFill>
                            <a:srgbClr val="334155"/>
                          </a:solidFill>
                        </a:rPr>
                        <a:t>R5</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indent="0" marL="0">
                        <a:buNone/>
                      </a:pPr>
                      <a:r>
                        <a:rPr lang="en-US" sz="1050" dirty="0">
                          <a:solidFill>
                            <a:srgbClr val="334155"/>
                          </a:solidFill>
                        </a:rPr>
                        <a:t>Pocket item, changed clothes</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0.70</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r>
              <a:tr h="365760">
                <a:tc>
                  <a:txBody>
                    <a:bodyPr/>
                    <a:lstStyle/>
                    <a:p>
                      <a:pPr indent="0" marL="0">
                        <a:buNone/>
                      </a:pPr>
                      <a:r>
                        <a:rPr lang="en-US" sz="1050" b="1" dirty="0">
                          <a:solidFill>
                            <a:srgbClr val="334155"/>
                          </a:solidFill>
                        </a:rPr>
                        <a:t>R6</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indent="0" marL="0">
                        <a:buNone/>
                      </a:pPr>
                      <a:r>
                        <a:rPr lang="en-US" sz="1050" dirty="0">
                          <a:solidFill>
                            <a:srgbClr val="334155"/>
                          </a:solidFill>
                        </a:rPr>
                        <a:t>Usual place (fallback)</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0.30</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r>
            </a:tbl>
          </a:graphicData>
        </a:graphic>
      </p:graphicFrame>
      <p:sp>
        <p:nvSpPr>
          <p:cNvPr id="23" name="Static facts caption"/>
          <p:cNvSpPr txBox="1"/>
          <p:nvPr/>
        </p:nvSpPr>
        <p:spPr>
          <a:xfrm>
            <a:off x="731520" y="5669280"/>
            <a:ext cx="3136392" cy="457200"/>
          </a:xfrm>
          <a:prstGeom prst="rect">
            <a:avLst/>
          </a:prstGeom>
          <a:noFill/>
          <a:ln/>
        </p:spPr>
        <p:txBody>
          <a:bodyPr wrap="square" lIns="0" tIns="0" rIns="0" bIns="0" rtlCol="0" anchor="t"/>
          <a:lstStyle/>
          <a:p>
            <a:pPr indent="0" marL="0">
              <a:buNone/>
            </a:pPr>
            <a:r>
              <a:rPr lang="en-US" sz="1000" dirty="0">
                <a:solidFill>
                  <a:srgbClr val="64748B"/>
                </a:solidFill>
              </a:rPr>
              <a:t>Static facts: Chargeable(Phone), PocketItem(Wallet), TypicalPlace(Keys, FrontDoor)</a:t>
            </a:r>
            <a:endParaRPr lang="en-US" sz="1000" dirty="0"/>
          </a:p>
        </p:txBody>
      </p:sp>
      <p:sp>
        <p:nvSpPr>
          <p:cNvPr id="24" name="Chaining bullets"/>
          <p:cNvSpPr txBox="1"/>
          <p:nvPr/>
        </p:nvSpPr>
        <p:spPr>
          <a:xfrm>
            <a:off x="4526280" y="2971800"/>
            <a:ext cx="3136392" cy="3108960"/>
          </a:xfrm>
          <a:prstGeom prst="rect">
            <a:avLst/>
          </a:prstGeom>
          <a:noFill/>
          <a:ln/>
        </p:spPr>
        <p:txBody>
          <a:bodyPr wrap="square" lIns="0" tIns="0" rIns="0" bIns="0" rtlCol="0" anchor="t"/>
          <a:lstStyle/>
          <a:p>
            <a:pPr marL="152400" indent="-152400">
              <a:spcAft>
                <a:spcPts val="700"/>
              </a:spcAft>
              <a:buSzPct val="100000"/>
              <a:buChar char="•"/>
            </a:pPr>
            <a:r>
              <a:rPr lang="en-US" sz="1200" dirty="0">
                <a:solidFill>
                  <a:srgbClr val="334155"/>
                </a:solidFill>
              </a:rPr>
              <a:t>Unify the goal with a rule conclusion: ?i binds to ID</a:t>
            </a:r>
            <a:endParaRPr lang="en-US" sz="1200" dirty="0"/>
          </a:p>
          <a:p>
            <a:pPr marL="152400" indent="-152400">
              <a:spcAft>
                <a:spcPts val="700"/>
              </a:spcAft>
              <a:buSzPct val="100000"/>
              <a:buChar char="•"/>
            </a:pPr>
            <a:r>
              <a:rPr lang="en-US" sz="1200" dirty="0">
                <a:solidFill>
                  <a:srgbClr val="334155"/>
                </a:solidFill>
              </a:rPr>
              <a:t>Rule conditions become sub-goals, e.g. Removed(ID, ?c)</a:t>
            </a:r>
            <a:endParaRPr lang="en-US" sz="1200" dirty="0"/>
          </a:p>
          <a:p>
            <a:pPr marL="152400" indent="-152400">
              <a:spcAft>
                <a:spcPts val="700"/>
              </a:spcAft>
              <a:buSzPct val="100000"/>
              <a:buChar char="•"/>
            </a:pPr>
            <a:r>
              <a:rPr lang="en-US" sz="1200" dirty="0">
                <a:solidFill>
                  <a:srgbClr val="334155"/>
                </a:solidFill>
              </a:rPr>
              <a:t>Prove each from the fact store, else ask the user</a:t>
            </a:r>
            <a:endParaRPr lang="en-US" sz="1200" dirty="0"/>
          </a:p>
          <a:p>
            <a:pPr marL="152400" indent="-152400">
              <a:spcAft>
                <a:spcPts val="700"/>
              </a:spcAft>
              <a:buSzPct val="100000"/>
              <a:buChar char="•"/>
            </a:pPr>
            <a:r>
              <a:rPr lang="en-US" sz="1200" dirty="0">
                <a:solidFill>
                  <a:srgbClr val="334155"/>
                </a:solidFill>
              </a:rPr>
              <a:t>Rules are tried by certainty factor, strongest first</a:t>
            </a:r>
            <a:endParaRPr lang="en-US" sz="1200" dirty="0"/>
          </a:p>
          <a:p>
            <a:pPr marL="152400" indent="-152400">
              <a:spcAft>
                <a:spcPts val="700"/>
              </a:spcAft>
              <a:buSzPct val="100000"/>
              <a:buChar char="•"/>
            </a:pPr>
            <a:r>
              <a:rPr lang="en-US" sz="1200" dirty="0">
                <a:solidFill>
                  <a:srgbClr val="334155"/>
                </a:solidFill>
              </a:rPr>
              <a:t>Proof is depth-first, using Python generators</a:t>
            </a:r>
            <a:endParaRPr lang="en-US" sz="1200" dirty="0"/>
          </a:p>
          <a:p>
            <a:pPr marL="152400" indent="-152400">
              <a:spcAft>
                <a:spcPts val="700"/>
              </a:spcAft>
              <a:buSzPct val="100000"/>
              <a:buChar char="•"/>
            </a:pPr>
            <a:r>
              <a:rPr lang="en-US" sz="1200" dirty="0">
                <a:solidFill>
                  <a:srgbClr val="334155"/>
                </a:solidFill>
              </a:rPr>
              <a:t>Yes/No for ground facts, multiple choice for locations</a:t>
            </a:r>
            <a:endParaRPr lang="en-US" sz="1200" dirty="0"/>
          </a:p>
        </p:txBody>
      </p:sp>
      <p:sp>
        <p:nvSpPr>
          <p:cNvPr id="25" name="Certainty bullets"/>
          <p:cNvSpPr txBox="1"/>
          <p:nvPr/>
        </p:nvSpPr>
        <p:spPr>
          <a:xfrm>
            <a:off x="8321040" y="2971800"/>
            <a:ext cx="3136392" cy="3108960"/>
          </a:xfrm>
          <a:prstGeom prst="rect">
            <a:avLst/>
          </a:prstGeom>
          <a:noFill/>
          <a:ln/>
        </p:spPr>
        <p:txBody>
          <a:bodyPr wrap="square" lIns="0" tIns="0" rIns="0" bIns="0" rtlCol="0" anchor="t"/>
          <a:lstStyle/>
          <a:p>
            <a:pPr marL="152400" indent="-152400">
              <a:spcAft>
                <a:spcPts val="700"/>
              </a:spcAft>
              <a:buSzPct val="100000"/>
              <a:buChar char="•"/>
            </a:pPr>
            <a:r>
              <a:rPr lang="en-US" sz="1200" dirty="0">
                <a:solidFill>
                  <a:srgbClr val="334155"/>
                </a:solidFill>
              </a:rPr>
              <a:t>A proved location keeps its rule's CF; the highest wins if several rules reach it</a:t>
            </a:r>
            <a:endParaRPr lang="en-US" sz="1200" dirty="0"/>
          </a:p>
          <a:p>
            <a:pPr marL="152400" indent="-152400">
              <a:spcAft>
                <a:spcPts val="700"/>
              </a:spcAft>
              <a:buSzPct val="100000"/>
              <a:buChar char="•"/>
            </a:pPr>
            <a:r>
              <a:rPr lang="en-US" sz="1200" dirty="0">
                <a:solidFill>
                  <a:srgbClr val="334155"/>
                </a:solidFill>
              </a:rPr>
              <a:t>Questioning stops once a location reaches 0.75</a:t>
            </a:r>
            <a:endParaRPr lang="en-US" sz="1200" dirty="0"/>
          </a:p>
          <a:p>
            <a:pPr marL="152400" indent="-152400">
              <a:spcAft>
                <a:spcPts val="700"/>
              </a:spcAft>
              <a:buSzPct val="100000"/>
              <a:buChar char="•"/>
            </a:pPr>
            <a:r>
              <a:rPr lang="en-US" sz="1200" dirty="0">
                <a:solidFill>
                  <a:srgbClr val="334155"/>
                </a:solidFill>
              </a:rPr>
              <a:t>Below that, R6 adds usual places at 0.30 as alternatives</a:t>
            </a:r>
            <a:endParaRPr lang="en-US" sz="1200" dirty="0"/>
          </a:p>
          <a:p>
            <a:pPr marL="152400" indent="-152400">
              <a:spcAft>
                <a:spcPts val="700"/>
              </a:spcAft>
              <a:buSzPct val="100000"/>
              <a:buChar char="•"/>
            </a:pPr>
            <a:r>
              <a:rPr lang="en-US" sz="1200" dirty="0">
                <a:solidFill>
                  <a:srgbClr val="334155"/>
                </a:solidFill>
              </a:rPr>
              <a:t>“Not sure” adds no fact, so strong rules fail safely</a:t>
            </a:r>
            <a:endParaRPr lang="en-US" sz="1200" dirty="0"/>
          </a:p>
          <a:p>
            <a:pPr marL="152400" indent="-152400">
              <a:spcAft>
                <a:spcPts val="700"/>
              </a:spcAft>
              <a:buSzPct val="100000"/>
              <a:buChar char="•"/>
            </a:pPr>
            <a:r>
              <a:rPr lang="en-US" sz="1200" dirty="0">
                <a:solidFill>
                  <a:srgbClr val="334155"/>
                </a:solidFill>
              </a:rPr>
              <a:t>Static facts prune questions: a wallet is not chargeable, so R4 is never asked</a:t>
            </a:r>
            <a:endParaRPr lang="en-US" sz="1200" dirty="0"/>
          </a:p>
          <a:p>
            <a:pPr marL="152400" indent="-152400">
              <a:spcAft>
                <a:spcPts val="700"/>
              </a:spcAft>
              <a:buSzPct val="100000"/>
              <a:buChar char="•"/>
            </a:pPr>
            <a:r>
              <a:rPr lang="en-US" sz="1200" dirty="0">
                <a:solidFill>
                  <a:srgbClr val="334155"/>
                </a:solidFill>
              </a:rPr>
              <a:t>Every goal, rule, question and answer is logged to the trace</a:t>
            </a:r>
            <a:endParaRPr lang="en-US" sz="12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594360"/>
          </a:xfrm>
          <a:prstGeom prst="rect">
            <a:avLst/>
          </a:prstGeom>
          <a:noFill/>
          <a:ln/>
        </p:spPr>
        <p:txBody>
          <a:bodyPr wrap="square" lIns="0" tIns="0" rIns="0" bIns="0" rtlCol="0" anchor="ctr"/>
          <a:lstStyle/>
          <a:p>
            <a:pPr algn="l" indent="0" marL="0">
              <a:buNone/>
            </a:pPr>
            <a:r>
              <a:rPr lang="en-US" sz="3000" b="1" dirty="0">
                <a:solidFill>
                  <a:srgbClr val="0B1F3A"/>
                </a:solidFill>
              </a:rPr>
              <a:t>Results: Reasoning Trace and Scenarios</a:t>
            </a:r>
            <a:endParaRPr lang="en-US" sz="3000" dirty="0"/>
          </a:p>
        </p:txBody>
      </p:sp>
      <p:sp>
        <p:nvSpPr>
          <p:cNvPr id="3" name="Subtitle"/>
          <p:cNvSpPr txBox="1"/>
          <p:nvPr/>
        </p:nvSpPr>
        <p:spPr>
          <a:xfrm>
            <a:off x="548640" y="914400"/>
            <a:ext cx="11064240" cy="365760"/>
          </a:xfrm>
          <a:prstGeom prst="rect">
            <a:avLst/>
          </a:prstGeom>
          <a:noFill/>
          <a:ln/>
        </p:spPr>
        <p:txBody>
          <a:bodyPr wrap="square" lIns="0" tIns="0" rIns="0" bIns="0" rtlCol="0" anchor="ctr"/>
          <a:lstStyle/>
          <a:p>
            <a:pPr indent="0" marL="0">
              <a:buNone/>
            </a:pPr>
            <a:r>
              <a:rPr lang="en-US" sz="1500" dirty="0">
                <a:solidFill>
                  <a:srgbClr val="14B8A6"/>
                </a:solidFill>
              </a:rPr>
              <a:t>Six scripted scenarios on the 7-item, 6-rule knowledge base</a:t>
            </a:r>
            <a:endParaRPr lang="en-US" sz="1500" dirty="0"/>
          </a:p>
        </p:txBody>
      </p:sp>
      <p:sp>
        <p:nvSpPr>
          <p:cNvPr id="4" name="Text 2"/>
          <p:cNvSpPr txBox="1"/>
          <p:nvPr/>
        </p:nvSpPr>
        <p:spPr>
          <a:xfrm>
            <a:off x="548640" y="1554480"/>
            <a:ext cx="5394960" cy="320040"/>
          </a:xfrm>
          <a:prstGeom prst="rect">
            <a:avLst/>
          </a:prstGeom>
          <a:noFill/>
          <a:ln/>
        </p:spPr>
        <p:txBody>
          <a:bodyPr wrap="square" lIns="0" tIns="0" rIns="0" bIns="0" rtlCol="0" anchor="ctr"/>
          <a:lstStyle/>
          <a:p>
            <a:pPr indent="0" marL="0">
              <a:buNone/>
            </a:pPr>
            <a:r>
              <a:rPr lang="en-US" sz="1400" b="1" dirty="0">
                <a:solidFill>
                  <a:srgbClr val="0B1F3A"/>
                </a:solidFill>
              </a:rPr>
              <a:t>Scenario S1: lost college ID card</a:t>
            </a:r>
            <a:endParaRPr lang="en-US" sz="1400" dirty="0"/>
          </a:p>
        </p:txBody>
      </p:sp>
      <p:sp>
        <p:nvSpPr>
          <p:cNvPr id="5" name="Text 3"/>
          <p:cNvSpPr txBox="1"/>
          <p:nvPr/>
        </p:nvSpPr>
        <p:spPr>
          <a:xfrm>
            <a:off x="548640" y="1874520"/>
            <a:ext cx="5394960" cy="274320"/>
          </a:xfrm>
          <a:prstGeom prst="rect">
            <a:avLst/>
          </a:prstGeom>
          <a:noFill/>
          <a:ln/>
        </p:spPr>
        <p:txBody>
          <a:bodyPr wrap="square" lIns="0" tIns="0" rIns="0" bIns="0" rtlCol="0" anchor="ctr"/>
          <a:lstStyle/>
          <a:p>
            <a:pPr indent="0" marL="0">
              <a:buNone/>
            </a:pPr>
            <a:r>
              <a:rPr lang="en-US" sz="1200" b="1" dirty="0">
                <a:solidFill>
                  <a:srgbClr val="14B8A6"/>
                </a:solidFill>
              </a:rPr>
              <a:t>StudyTable · 80% confidence · Rule R3 · 5 questions</a:t>
            </a:r>
            <a:endParaRPr lang="en-US" sz="1200" dirty="0"/>
          </a:p>
        </p:txBody>
      </p:sp>
      <p:graphicFrame>
        <p:nvGraphicFramePr>
          <p:cNvPr id="7" name="S1 trace table"/>
          <p:cNvGraphicFramePr>
            <a:graphicFrameLocks noGrp="1"/>
          </p:cNvGraphicFramePr>
          <p:nvPr>
            <p:extLst>
              <p:ext uri="{D42A27DB-BD31-4B8C-83A1-F6EECF244321}">
                <p14:modId xmlns:p14="http://schemas.microsoft.com/office/powerpoint/2010/main" val="1579011935"/>
              </p:ext>
            </p:extLst>
          </p:nvPr>
        </p:nvGraphicFramePr>
        <p:xfrm>
          <a:off x="548640" y="2240280"/>
          <a:ext cx="5394960" cy="914400"/>
        </p:xfrm>
        <a:graphic>
          <a:graphicData uri="http://schemas.openxmlformats.org/drawingml/2006/table">
            <a:tbl>
              <a:tblPr/>
              <a:tblGrid>
                <a:gridCol w="502920"/>
                <a:gridCol w="1005840"/>
                <a:gridCol w="2331720"/>
                <a:gridCol w="1554480"/>
              </a:tblGrid>
              <a:tr h="310896">
                <a:tc>
                  <a:txBody>
                    <a:bodyPr/>
                    <a:lstStyle/>
                    <a:p>
                      <a:pPr algn="ctr" indent="0" marL="0">
                        <a:buNone/>
                      </a:pPr>
                      <a:r>
                        <a:rPr lang="en-US" sz="1050" b="1" dirty="0">
                          <a:solidFill>
                            <a:srgbClr val="FFFFFF"/>
                          </a:solidFill>
                        </a:rPr>
                        <a:t>Step</a:t>
                      </a:r>
                      <a:endParaRPr lang="en-US" sz="1050" dirty="0"/>
                    </a:p>
                  </a:txBody>
                  <a:tcPr marL="64008" marR="64008"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tc>
                  <a:txBody>
                    <a:bodyPr/>
                    <a:lstStyle/>
                    <a:p>
                      <a:pPr algn="l" indent="0" marL="0">
                        <a:buNone/>
                      </a:pPr>
                      <a:r>
                        <a:rPr lang="en-US" sz="1050" b="1" dirty="0">
                          <a:solidFill>
                            <a:srgbClr val="FFFFFF"/>
                          </a:solidFill>
                        </a:rPr>
                        <a:t>Rule (CF)</a:t>
                      </a:r>
                      <a:endParaRPr lang="en-US" sz="1050" dirty="0"/>
                    </a:p>
                  </a:txBody>
                  <a:tcPr marL="64008" marR="64008"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tc>
                  <a:txBody>
                    <a:bodyPr/>
                    <a:lstStyle/>
                    <a:p>
                      <a:pPr algn="l" indent="0" marL="0">
                        <a:buNone/>
                      </a:pPr>
                      <a:r>
                        <a:rPr lang="en-US" sz="1050" b="1" dirty="0">
                          <a:solidFill>
                            <a:srgbClr val="FFFFFF"/>
                          </a:solidFill>
                        </a:rPr>
                        <a:t>Question asked</a:t>
                      </a:r>
                      <a:endParaRPr lang="en-US" sz="1050" dirty="0"/>
                    </a:p>
                  </a:txBody>
                  <a:tcPr marL="64008" marR="64008"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tc>
                  <a:txBody>
                    <a:bodyPr/>
                    <a:lstStyle/>
                    <a:p>
                      <a:pPr algn="l" indent="0" marL="0">
                        <a:buNone/>
                      </a:pPr>
                      <a:r>
                        <a:rPr lang="en-US" sz="1050" b="1" dirty="0">
                          <a:solidFill>
                            <a:srgbClr val="FFFFFF"/>
                          </a:solidFill>
                        </a:rPr>
                        <a:t>Outcome</a:t>
                      </a:r>
                      <a:endParaRPr lang="en-US" sz="1050" dirty="0"/>
                    </a:p>
                  </a:txBody>
                  <a:tcPr marL="64008" marR="64008"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tr>
              <a:tr h="384048">
                <a:tc>
                  <a:txBody>
                    <a:bodyPr/>
                    <a:lstStyle/>
                    <a:p>
                      <a:pPr algn="ctr" indent="0" marL="0">
                        <a:buNone/>
                      </a:pPr>
                      <a:r>
                        <a:rPr lang="en-US" sz="1050" dirty="0">
                          <a:solidFill>
                            <a:srgbClr val="334155"/>
                          </a:solidFill>
                        </a:rPr>
                        <a:t>1</a:t>
                      </a:r>
                      <a:endParaRPr lang="en-US" sz="1050" dirty="0"/>
                    </a:p>
                  </a:txBody>
                  <a:tcPr marL="64008" marR="64008"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indent="0" marL="0">
                        <a:buNone/>
                      </a:pPr>
                      <a:r>
                        <a:rPr lang="en-US" sz="1050" dirty="0">
                          <a:solidFill>
                            <a:srgbClr val="334155"/>
                          </a:solidFill>
                        </a:rPr>
                        <a:t>R1 (0.90)</a:t>
                      </a:r>
                      <a:endParaRPr lang="en-US" sz="1050" dirty="0"/>
                    </a:p>
                  </a:txBody>
                  <a:tcPr marL="64008" marR="64008"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indent="0" marL="0">
                        <a:buNone/>
                      </a:pPr>
                      <a:r>
                        <a:rPr lang="en-US" sz="1050" dirty="0">
                          <a:solidFill>
                            <a:srgbClr val="334155"/>
                          </a:solidFill>
                        </a:rPr>
                        <a:t>Where was it last used? Not sure</a:t>
                      </a:r>
                      <a:endParaRPr lang="en-US" sz="1050" dirty="0"/>
                    </a:p>
                  </a:txBody>
                  <a:tcPr marL="64008" marR="64008"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indent="0" marL="0">
                        <a:buNone/>
                      </a:pPr>
                      <a:r>
                        <a:rPr lang="en-US" sz="1050" dirty="0">
                          <a:solidFill>
                            <a:srgbClr val="334155"/>
                          </a:solidFill>
                        </a:rPr>
                        <a:t>Fails</a:t>
                      </a:r>
                      <a:endParaRPr lang="en-US" sz="1050" dirty="0"/>
                    </a:p>
                  </a:txBody>
                  <a:tcPr marL="64008" marR="64008"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r>
              <a:tr h="384048">
                <a:tc>
                  <a:txBody>
                    <a:bodyPr/>
                    <a:lstStyle/>
                    <a:p>
                      <a:pPr algn="ctr" indent="0" marL="0">
                        <a:buNone/>
                      </a:pPr>
                      <a:r>
                        <a:rPr lang="en-US" sz="1050" dirty="0">
                          <a:solidFill>
                            <a:srgbClr val="334155"/>
                          </a:solidFill>
                        </a:rPr>
                        <a:t>2</a:t>
                      </a:r>
                      <a:endParaRPr lang="en-US" sz="1050" dirty="0"/>
                    </a:p>
                  </a:txBody>
                  <a:tcPr marL="64008" marR="64008"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indent="0" marL="0">
                        <a:buNone/>
                      </a:pPr>
                      <a:r>
                        <a:rPr lang="en-US" sz="1050" dirty="0">
                          <a:solidFill>
                            <a:srgbClr val="334155"/>
                          </a:solidFill>
                        </a:rPr>
                        <a:t>R2 (0.85)</a:t>
                      </a:r>
                      <a:endParaRPr lang="en-US" sz="1050" dirty="0"/>
                    </a:p>
                  </a:txBody>
                  <a:tcPr marL="64008" marR="64008"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indent="0" marL="0">
                        <a:buNone/>
                      </a:pPr>
                      <a:r>
                        <a:rPr lang="en-US" sz="1050" dirty="0">
                          <a:solidFill>
                            <a:srgbClr val="334155"/>
                          </a:solidFill>
                        </a:rPr>
                        <a:t>Kept in the bag? In the wallet?</a:t>
                      </a:r>
                      <a:endParaRPr lang="en-US" sz="1050" dirty="0"/>
                    </a:p>
                  </a:txBody>
                  <a:tcPr marL="64008" marR="64008"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indent="0" marL="0">
                        <a:buNone/>
                      </a:pPr>
                      <a:r>
                        <a:rPr lang="en-US" sz="1050" dirty="0">
                          <a:solidFill>
                            <a:srgbClr val="334155"/>
                          </a:solidFill>
                        </a:rPr>
                        <a:t>Fails for both</a:t>
                      </a:r>
                      <a:endParaRPr lang="en-US" sz="1050" dirty="0"/>
                    </a:p>
                  </a:txBody>
                  <a:tcPr marL="64008" marR="64008"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r>
              <a:tr h="457200">
                <a:tc>
                  <a:txBody>
                    <a:bodyPr/>
                    <a:lstStyle/>
                    <a:p>
                      <a:pPr algn="ctr" indent="0" marL="0">
                        <a:buNone/>
                      </a:pPr>
                      <a:r>
                        <a:rPr lang="en-US" sz="1050" dirty="0">
                          <a:solidFill>
                            <a:srgbClr val="334155"/>
                          </a:solidFill>
                        </a:rPr>
                        <a:t>3</a:t>
                      </a:r>
                      <a:endParaRPr lang="en-US" sz="1050" dirty="0"/>
                    </a:p>
                  </a:txBody>
                  <a:tcPr marL="64008" marR="64008"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indent="0" marL="0">
                        <a:buNone/>
                      </a:pPr>
                      <a:r>
                        <a:rPr lang="en-US" sz="1050" dirty="0">
                          <a:solidFill>
                            <a:srgbClr val="334155"/>
                          </a:solidFill>
                        </a:rPr>
                        <a:t>R3 (0.80)</a:t>
                      </a:r>
                      <a:endParaRPr lang="en-US" sz="1050" dirty="0"/>
                    </a:p>
                  </a:txBody>
                  <a:tcPr marL="64008" marR="64008"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indent="0" marL="0">
                        <a:buNone/>
                      </a:pPr>
                      <a:r>
                        <a:rPr lang="en-US" sz="1050" dirty="0">
                          <a:solidFill>
                            <a:srgbClr val="334155"/>
                          </a:solidFill>
                        </a:rPr>
                        <a:t>Taken out of the bag? Where? StudyTable</a:t>
                      </a:r>
                      <a:endParaRPr lang="en-US" sz="1050" dirty="0"/>
                    </a:p>
                  </a:txBody>
                  <a:tcPr marL="64008" marR="64008"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indent="0" marL="0">
                        <a:buNone/>
                      </a:pPr>
                      <a:r>
                        <a:rPr lang="en-US" sz="1050" b="1" dirty="0">
                          <a:solidFill>
                            <a:srgbClr val="0B1F3A"/>
                          </a:solidFill>
                        </a:rPr>
                        <a:t>Proved, CF 0.80</a:t>
                      </a:r>
                      <a:endParaRPr lang="en-US" sz="1050" dirty="0"/>
                    </a:p>
                  </a:txBody>
                  <a:tcPr marL="64008" marR="64008"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6FAF8"/>
                    </a:solidFill>
                  </a:tcPr>
                </a:tc>
              </a:tr>
              <a:tr h="457200">
                <a:tc>
                  <a:txBody>
                    <a:bodyPr/>
                    <a:lstStyle/>
                    <a:p>
                      <a:pPr algn="ctr" indent="0" marL="0">
                        <a:buNone/>
                      </a:pPr>
                      <a:r>
                        <a:rPr lang="en-US" sz="1050" dirty="0">
                          <a:solidFill>
                            <a:srgbClr val="334155"/>
                          </a:solidFill>
                        </a:rPr>
                        <a:t>4</a:t>
                      </a:r>
                      <a:endParaRPr lang="en-US" sz="1050" dirty="0"/>
                    </a:p>
                  </a:txBody>
                  <a:tcPr marL="64008" marR="64008"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indent="0" marL="0">
                        <a:buNone/>
                      </a:pPr>
                      <a:r>
                        <a:rPr lang="en-US" sz="1050" dirty="0">
                          <a:solidFill>
                            <a:srgbClr val="334155"/>
                          </a:solidFill>
                        </a:rPr>
                        <a:t>Stop</a:t>
                      </a:r>
                      <a:endParaRPr lang="en-US" sz="1050" dirty="0"/>
                    </a:p>
                  </a:txBody>
                  <a:tcPr marL="64008" marR="64008"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indent="0" marL="0">
                        <a:buNone/>
                      </a:pPr>
                      <a:r>
                        <a:rPr lang="en-US" sz="1050" dirty="0">
                          <a:solidFill>
                            <a:srgbClr val="334155"/>
                          </a:solidFill>
                        </a:rPr>
                        <a:t>0.80 ≥ 0.75 threshold</a:t>
                      </a:r>
                      <a:endParaRPr lang="en-US" sz="1050" dirty="0"/>
                    </a:p>
                  </a:txBody>
                  <a:tcPr marL="64008" marR="64008"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indent="0" marL="0">
                        <a:buNone/>
                      </a:pPr>
                      <a:r>
                        <a:rPr lang="en-US" sz="1050" b="1" dirty="0">
                          <a:solidFill>
                            <a:srgbClr val="0B1F3A"/>
                          </a:solidFill>
                        </a:rPr>
                        <a:t>LikelyAt(ID, StudyTable)</a:t>
                      </a:r>
                      <a:endParaRPr lang="en-US" sz="1050" dirty="0"/>
                    </a:p>
                  </a:txBody>
                  <a:tcPr marL="64008" marR="64008"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6FAF8"/>
                    </a:solidFill>
                  </a:tcPr>
                </a:tc>
              </a:tr>
            </a:tbl>
          </a:graphicData>
        </a:graphic>
      </p:graphicFrame>
      <p:sp>
        <p:nvSpPr>
          <p:cNvPr id="7" name="Scenario note S5 Book"/>
          <p:cNvSpPr/>
          <p:nvPr/>
        </p:nvSpPr>
        <p:spPr>
          <a:xfrm>
            <a:off x="548640" y="4572000"/>
            <a:ext cx="5394960" cy="512064"/>
          </a:xfrm>
          <a:prstGeom prst="roundRect">
            <a:avLst>
              <a:gd name="adj" fmla="val 10714"/>
            </a:avLst>
          </a:prstGeom>
          <a:solidFill>
            <a:srgbClr val="E6FAF8"/>
          </a:solidFill>
          <a:ln w="9525">
            <a:solidFill>
              <a:srgbClr val="D8E0E8"/>
            </a:solidFill>
            <a:prstDash val="solid"/>
          </a:ln>
        </p:spPr>
      </p:sp>
      <p:sp>
        <p:nvSpPr>
          <p:cNvPr id="8" name="Text 5"/>
          <p:cNvSpPr txBox="1"/>
          <p:nvPr/>
        </p:nvSpPr>
        <p:spPr>
          <a:xfrm>
            <a:off x="685800" y="4572000"/>
            <a:ext cx="5166360" cy="512064"/>
          </a:xfrm>
          <a:prstGeom prst="rect">
            <a:avLst/>
          </a:prstGeom>
          <a:noFill/>
          <a:ln/>
        </p:spPr>
        <p:txBody>
          <a:bodyPr wrap="square" lIns="0" tIns="0" rIns="0" bIns="0" rtlCol="0" anchor="ctr"/>
          <a:lstStyle/>
          <a:p>
            <a:pPr indent="0" marL="0">
              <a:buNone/>
            </a:pPr>
            <a:r>
              <a:rPr lang="en-US" sz="1050" b="1" dirty="0">
                <a:solidFill>
                  <a:srgbClr val="14B8A6"/>
                </a:solidFill>
              </a:rPr>
              <a:t>S5 Book  </a:t>
            </a:r>
            <a:pPr indent="0" marL="0">
              <a:buNone/>
            </a:pPr>
            <a:r>
              <a:rPr lang="en-US" sz="1050" dirty="0">
                <a:solidFill>
                  <a:srgbClr val="0B1F3A"/>
                </a:solidFill>
              </a:rPr>
              <a:t>R1 rejected as moved; R2 chains book → bag → classroom. 85%, 4 questions.</a:t>
            </a:r>
            <a:endParaRPr lang="en-US" sz="1050" dirty="0"/>
          </a:p>
        </p:txBody>
      </p:sp>
      <p:sp>
        <p:nvSpPr>
          <p:cNvPr id="9" name="Scenario note S4 Wallet"/>
          <p:cNvSpPr/>
          <p:nvPr/>
        </p:nvSpPr>
        <p:spPr>
          <a:xfrm>
            <a:off x="548640" y="5157216"/>
            <a:ext cx="5394960" cy="512064"/>
          </a:xfrm>
          <a:prstGeom prst="roundRect">
            <a:avLst>
              <a:gd name="adj" fmla="val 10714"/>
            </a:avLst>
          </a:prstGeom>
          <a:solidFill>
            <a:srgbClr val="E6FAF8"/>
          </a:solidFill>
          <a:ln w="9525">
            <a:solidFill>
              <a:srgbClr val="D8E0E8"/>
            </a:solidFill>
            <a:prstDash val="solid"/>
          </a:ln>
        </p:spPr>
      </p:sp>
      <p:sp>
        <p:nvSpPr>
          <p:cNvPr id="10" name="Text 7"/>
          <p:cNvSpPr txBox="1"/>
          <p:nvPr/>
        </p:nvSpPr>
        <p:spPr>
          <a:xfrm>
            <a:off x="685800" y="5157216"/>
            <a:ext cx="5166360" cy="512064"/>
          </a:xfrm>
          <a:prstGeom prst="rect">
            <a:avLst/>
          </a:prstGeom>
          <a:noFill/>
          <a:ln/>
        </p:spPr>
        <p:txBody>
          <a:bodyPr wrap="square" lIns="0" tIns="0" rIns="0" bIns="0" rtlCol="0" anchor="ctr"/>
          <a:lstStyle/>
          <a:p>
            <a:pPr indent="0" marL="0">
              <a:buNone/>
            </a:pPr>
            <a:r>
              <a:rPr lang="en-US" sz="1050" b="1" dirty="0">
                <a:solidFill>
                  <a:srgbClr val="14B8A6"/>
                </a:solidFill>
              </a:rPr>
              <a:t>S4 Wallet  </a:t>
            </a:r>
            <a:pPr indent="0" marL="0">
              <a:buNone/>
            </a:pPr>
            <a:r>
              <a:rPr lang="en-US" sz="1050" dirty="0">
                <a:solidFill>
                  <a:srgbClr val="0B1F3A"/>
                </a:solidFill>
              </a:rPr>
              <a:t>R5 gives LaundryBasket at 70%, below 0.75, so R6 lists bag and bedroom at 30%.</a:t>
            </a:r>
            <a:endParaRPr lang="en-US" sz="1050" dirty="0"/>
          </a:p>
        </p:txBody>
      </p:sp>
      <p:sp>
        <p:nvSpPr>
          <p:cNvPr id="11" name="Scenario note S6 Earphones"/>
          <p:cNvSpPr/>
          <p:nvPr/>
        </p:nvSpPr>
        <p:spPr>
          <a:xfrm>
            <a:off x="548640" y="5742432"/>
            <a:ext cx="5394960" cy="512064"/>
          </a:xfrm>
          <a:prstGeom prst="roundRect">
            <a:avLst>
              <a:gd name="adj" fmla="val 10714"/>
            </a:avLst>
          </a:prstGeom>
          <a:solidFill>
            <a:srgbClr val="E6FAF8"/>
          </a:solidFill>
          <a:ln w="9525">
            <a:solidFill>
              <a:srgbClr val="D8E0E8"/>
            </a:solidFill>
            <a:prstDash val="solid"/>
          </a:ln>
        </p:spPr>
      </p:sp>
      <p:sp>
        <p:nvSpPr>
          <p:cNvPr id="12" name="Text 9"/>
          <p:cNvSpPr txBox="1"/>
          <p:nvPr/>
        </p:nvSpPr>
        <p:spPr>
          <a:xfrm>
            <a:off x="685800" y="5742432"/>
            <a:ext cx="5166360" cy="512064"/>
          </a:xfrm>
          <a:prstGeom prst="rect">
            <a:avLst/>
          </a:prstGeom>
          <a:noFill/>
          <a:ln/>
        </p:spPr>
        <p:txBody>
          <a:bodyPr wrap="square" lIns="0" tIns="0" rIns="0" bIns="0" rtlCol="0" anchor="ctr"/>
          <a:lstStyle/>
          <a:p>
            <a:pPr indent="0" marL="0">
              <a:buNone/>
            </a:pPr>
            <a:r>
              <a:rPr lang="en-US" sz="1050" b="1" dirty="0">
                <a:solidFill>
                  <a:srgbClr val="14B8A6"/>
                </a:solidFill>
              </a:rPr>
              <a:t>S6 Earphones  </a:t>
            </a:r>
            <a:pPr indent="0" marL="0">
              <a:buNone/>
            </a:pPr>
            <a:r>
              <a:rPr lang="en-US" sz="1050" dirty="0">
                <a:solidFill>
                  <a:srgbClr val="0B1F3A"/>
                </a:solidFill>
              </a:rPr>
              <a:t>Not sure to everything: R6 fallback, bag and bedroom at a stated 30%.</a:t>
            </a:r>
            <a:endParaRPr lang="en-US" sz="1050" dirty="0"/>
          </a:p>
        </p:txBody>
      </p:sp>
      <p:sp>
        <p:nvSpPr>
          <p:cNvPr id="13" name="Text 10"/>
          <p:cNvSpPr txBox="1"/>
          <p:nvPr/>
        </p:nvSpPr>
        <p:spPr>
          <a:xfrm>
            <a:off x="6309360" y="1554480"/>
            <a:ext cx="5303520" cy="320040"/>
          </a:xfrm>
          <a:prstGeom prst="rect">
            <a:avLst/>
          </a:prstGeom>
          <a:noFill/>
          <a:ln/>
        </p:spPr>
        <p:txBody>
          <a:bodyPr wrap="square" lIns="0" tIns="0" rIns="0" bIns="0" rtlCol="0" anchor="ctr"/>
          <a:lstStyle/>
          <a:p>
            <a:pPr indent="0" marL="0">
              <a:buNone/>
            </a:pPr>
            <a:r>
              <a:rPr lang="en-US" sz="1400" b="1" dirty="0">
                <a:solidFill>
                  <a:srgbClr val="0B1F3A"/>
                </a:solidFill>
              </a:rPr>
              <a:t>All six scenarios</a:t>
            </a:r>
            <a:endParaRPr lang="en-US" sz="1400" dirty="0"/>
          </a:p>
        </p:txBody>
      </p:sp>
      <p:sp>
        <p:nvSpPr>
          <p:cNvPr id="14" name="Text 11"/>
          <p:cNvSpPr txBox="1"/>
          <p:nvPr/>
        </p:nvSpPr>
        <p:spPr>
          <a:xfrm>
            <a:off x="6309360" y="1874520"/>
            <a:ext cx="5303520" cy="274320"/>
          </a:xfrm>
          <a:prstGeom prst="rect">
            <a:avLst/>
          </a:prstGeom>
          <a:noFill/>
          <a:ln/>
        </p:spPr>
        <p:txBody>
          <a:bodyPr wrap="square" lIns="0" tIns="0" rIns="0" bIns="0" rtlCol="0" anchor="ctr"/>
          <a:lstStyle/>
          <a:p>
            <a:pPr indent="0" marL="0">
              <a:buNone/>
            </a:pPr>
            <a:r>
              <a:rPr lang="en-US" sz="1200" b="1" dirty="0">
                <a:solidFill>
                  <a:srgbClr val="14B8A6"/>
                </a:solidFill>
              </a:rPr>
              <a:t>Questions asked vs a fixed questionnaire</a:t>
            </a:r>
            <a:endParaRPr lang="en-US" sz="1200" dirty="0"/>
          </a:p>
        </p:txBody>
      </p:sp>
      <p:graphicFrame>
        <p:nvGraphicFramePr>
          <p:cNvPr id="13" name="Results table"/>
          <p:cNvGraphicFramePr>
            <a:graphicFrameLocks noGrp="1"/>
          </p:cNvGraphicFramePr>
          <p:nvPr>
            <p:extLst>
              <p:ext uri="{D42A27DB-BD31-4B8C-83A1-F6EECF244321}">
                <p14:modId xmlns:p14="http://schemas.microsoft.com/office/powerpoint/2010/main" val="1579011935"/>
              </p:ext>
            </p:extLst>
          </p:nvPr>
        </p:nvGraphicFramePr>
        <p:xfrm>
          <a:off x="6309360" y="2240280"/>
          <a:ext cx="5330952" cy="914400"/>
        </p:xfrm>
        <a:graphic>
          <a:graphicData uri="http://schemas.openxmlformats.org/drawingml/2006/table">
            <a:tbl>
              <a:tblPr/>
              <a:tblGrid>
                <a:gridCol w="457200"/>
                <a:gridCol w="914400"/>
                <a:gridCol w="1371600"/>
                <a:gridCol w="548640"/>
                <a:gridCol w="502920"/>
                <a:gridCol w="777240"/>
                <a:gridCol w="758952"/>
              </a:tblGrid>
              <a:tr h="365760">
                <a:tc>
                  <a:txBody>
                    <a:bodyPr/>
                    <a:lstStyle/>
                    <a:p>
                      <a:pPr algn="ctr" indent="0" marL="0">
                        <a:buNone/>
                      </a:pPr>
                      <a:r>
                        <a:rPr lang="en-US" sz="1050" b="1" dirty="0">
                          <a:solidFill>
                            <a:srgbClr val="FFFFFF"/>
                          </a:solidFill>
                        </a:rPr>
                        <a:t>ID</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tc>
                  <a:txBody>
                    <a:bodyPr/>
                    <a:lstStyle/>
                    <a:p>
                      <a:pPr algn="l" indent="0" marL="0">
                        <a:buNone/>
                      </a:pPr>
                      <a:r>
                        <a:rPr lang="en-US" sz="1050" b="1" dirty="0">
                          <a:solidFill>
                            <a:srgbClr val="FFFFFF"/>
                          </a:solidFill>
                        </a:rPr>
                        <a:t>Item</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tc>
                  <a:txBody>
                    <a:bodyPr/>
                    <a:lstStyle/>
                    <a:p>
                      <a:pPr algn="l" indent="0" marL="0">
                        <a:buNone/>
                      </a:pPr>
                      <a:r>
                        <a:rPr lang="en-US" sz="1050" b="1" dirty="0">
                          <a:solidFill>
                            <a:srgbClr val="FFFFFF"/>
                          </a:solidFill>
                        </a:rPr>
                        <a:t>Predicted</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tc>
                  <a:txBody>
                    <a:bodyPr/>
                    <a:lstStyle/>
                    <a:p>
                      <a:pPr algn="ctr" indent="0" marL="0">
                        <a:buNone/>
                      </a:pPr>
                      <a:r>
                        <a:rPr lang="en-US" sz="1050" b="1" dirty="0">
                          <a:solidFill>
                            <a:srgbClr val="FFFFFF"/>
                          </a:solidFill>
                        </a:rPr>
                        <a:t>CF</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tc>
                  <a:txBody>
                    <a:bodyPr/>
                    <a:lstStyle/>
                    <a:p>
                      <a:pPr algn="ctr" indent="0" marL="0">
                        <a:buNone/>
                      </a:pPr>
                      <a:r>
                        <a:rPr lang="en-US" sz="1050" b="1" dirty="0">
                          <a:solidFill>
                            <a:srgbClr val="FFFFFF"/>
                          </a:solidFill>
                        </a:rPr>
                        <a:t>Rule</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tc>
                  <a:txBody>
                    <a:bodyPr/>
                    <a:lstStyle/>
                    <a:p>
                      <a:pPr algn="ctr" indent="0" marL="0">
                        <a:buNone/>
                      </a:pPr>
                      <a:r>
                        <a:rPr lang="en-US" sz="1050" b="1" dirty="0">
                          <a:solidFill>
                            <a:srgbClr val="FFFFFF"/>
                          </a:solidFill>
                        </a:rPr>
                        <a:t>Asked</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tc>
                  <a:txBody>
                    <a:bodyPr/>
                    <a:lstStyle/>
                    <a:p>
                      <a:pPr algn="ctr" indent="0" marL="0">
                        <a:buNone/>
                      </a:pPr>
                      <a:r>
                        <a:rPr lang="en-US" sz="1050" b="1" dirty="0">
                          <a:solidFill>
                            <a:srgbClr val="FFFFFF"/>
                          </a:solidFill>
                        </a:rPr>
                        <a:t>Fixed</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tr>
              <a:tr h="365760">
                <a:tc>
                  <a:txBody>
                    <a:bodyPr/>
                    <a:lstStyle/>
                    <a:p>
                      <a:pPr algn="ctr" indent="0" marL="0">
                        <a:buNone/>
                      </a:pPr>
                      <a:r>
                        <a:rPr lang="en-US" sz="1050" dirty="0">
                          <a:solidFill>
                            <a:srgbClr val="334155"/>
                          </a:solidFill>
                        </a:rPr>
                        <a:t>S1</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l" indent="0" marL="0">
                        <a:buNone/>
                      </a:pPr>
                      <a:r>
                        <a:rPr lang="en-US" sz="1050" dirty="0">
                          <a:solidFill>
                            <a:srgbClr val="334155"/>
                          </a:solidFill>
                        </a:rPr>
                        <a:t>ID card</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l" indent="0" marL="0">
                        <a:buNone/>
                      </a:pPr>
                      <a:r>
                        <a:rPr lang="en-US" sz="1050" dirty="0">
                          <a:solidFill>
                            <a:srgbClr val="334155"/>
                          </a:solidFill>
                        </a:rPr>
                        <a:t>StudyTable</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80%</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R3</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5</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13</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r>
              <a:tr h="365760">
                <a:tc>
                  <a:txBody>
                    <a:bodyPr/>
                    <a:lstStyle/>
                    <a:p>
                      <a:pPr algn="ctr" indent="0" marL="0">
                        <a:buNone/>
                      </a:pPr>
                      <a:r>
                        <a:rPr lang="en-US" sz="1050" dirty="0">
                          <a:solidFill>
                            <a:srgbClr val="334155"/>
                          </a:solidFill>
                        </a:rPr>
                        <a:t>S2</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l" indent="0" marL="0">
                        <a:buNone/>
                      </a:pPr>
                      <a:r>
                        <a:rPr lang="en-US" sz="1050" dirty="0">
                          <a:solidFill>
                            <a:srgbClr val="334155"/>
                          </a:solidFill>
                        </a:rPr>
                        <a:t>Phone</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l" indent="0" marL="0">
                        <a:buNone/>
                      </a:pPr>
                      <a:r>
                        <a:rPr lang="en-US" sz="1050" dirty="0">
                          <a:solidFill>
                            <a:srgbClr val="334155"/>
                          </a:solidFill>
                        </a:rPr>
                        <a:t>Bedroom</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80%</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R4</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6</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11</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r>
              <a:tr h="365760">
                <a:tc>
                  <a:txBody>
                    <a:bodyPr/>
                    <a:lstStyle/>
                    <a:p>
                      <a:pPr algn="ctr" indent="0" marL="0">
                        <a:buNone/>
                      </a:pPr>
                      <a:r>
                        <a:rPr lang="en-US" sz="1050" dirty="0">
                          <a:solidFill>
                            <a:srgbClr val="334155"/>
                          </a:solidFill>
                        </a:rPr>
                        <a:t>S3</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l" indent="0" marL="0">
                        <a:buNone/>
                      </a:pPr>
                      <a:r>
                        <a:rPr lang="en-US" sz="1050" dirty="0">
                          <a:solidFill>
                            <a:srgbClr val="334155"/>
                          </a:solidFill>
                        </a:rPr>
                        <a:t>Keys</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l" indent="0" marL="0">
                        <a:buNone/>
                      </a:pPr>
                      <a:r>
                        <a:rPr lang="en-US" sz="1050" dirty="0">
                          <a:solidFill>
                            <a:srgbClr val="334155"/>
                          </a:solidFill>
                        </a:rPr>
                        <a:t>FrontDoor</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90%</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R1</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2</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11</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r>
              <a:tr h="365760">
                <a:tc>
                  <a:txBody>
                    <a:bodyPr/>
                    <a:lstStyle/>
                    <a:p>
                      <a:pPr algn="ctr" indent="0" marL="0">
                        <a:buNone/>
                      </a:pPr>
                      <a:r>
                        <a:rPr lang="en-US" sz="1050" dirty="0">
                          <a:solidFill>
                            <a:srgbClr val="334155"/>
                          </a:solidFill>
                        </a:rPr>
                        <a:t>S4</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l" indent="0" marL="0">
                        <a:buNone/>
                      </a:pPr>
                      <a:r>
                        <a:rPr lang="en-US" sz="1050" dirty="0">
                          <a:solidFill>
                            <a:srgbClr val="334155"/>
                          </a:solidFill>
                        </a:rPr>
                        <a:t>Wallet</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l" indent="0" marL="0">
                        <a:buNone/>
                      </a:pPr>
                      <a:r>
                        <a:rPr lang="en-US" sz="1050" dirty="0">
                          <a:solidFill>
                            <a:srgbClr val="334155"/>
                          </a:solidFill>
                        </a:rPr>
                        <a:t>LaundryBasket</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70%</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R5</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5</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11</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r>
              <a:tr h="365760">
                <a:tc>
                  <a:txBody>
                    <a:bodyPr/>
                    <a:lstStyle/>
                    <a:p>
                      <a:pPr algn="ctr" indent="0" marL="0">
                        <a:buNone/>
                      </a:pPr>
                      <a:r>
                        <a:rPr lang="en-US" sz="1050" dirty="0">
                          <a:solidFill>
                            <a:srgbClr val="334155"/>
                          </a:solidFill>
                        </a:rPr>
                        <a:t>S5</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l" indent="0" marL="0">
                        <a:buNone/>
                      </a:pPr>
                      <a:r>
                        <a:rPr lang="en-US" sz="1050" dirty="0">
                          <a:solidFill>
                            <a:srgbClr val="334155"/>
                          </a:solidFill>
                        </a:rPr>
                        <a:t>Book</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l" indent="0" marL="0">
                        <a:buNone/>
                      </a:pPr>
                      <a:r>
                        <a:rPr lang="en-US" sz="1050" dirty="0">
                          <a:solidFill>
                            <a:srgbClr val="334155"/>
                          </a:solidFill>
                        </a:rPr>
                        <a:t>Classroom</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85%</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R2</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4</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9</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r>
              <a:tr h="365760">
                <a:tc>
                  <a:txBody>
                    <a:bodyPr/>
                    <a:lstStyle/>
                    <a:p>
                      <a:pPr algn="ctr" indent="0" marL="0">
                        <a:buNone/>
                      </a:pPr>
                      <a:r>
                        <a:rPr lang="en-US" sz="1050" dirty="0">
                          <a:solidFill>
                            <a:srgbClr val="334155"/>
                          </a:solidFill>
                        </a:rPr>
                        <a:t>S6</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l" indent="0" marL="0">
                        <a:buNone/>
                      </a:pPr>
                      <a:r>
                        <a:rPr lang="en-US" sz="1050" dirty="0">
                          <a:solidFill>
                            <a:srgbClr val="334155"/>
                          </a:solidFill>
                        </a:rPr>
                        <a:t>Earphones</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l" indent="0" marL="0">
                        <a:buNone/>
                      </a:pPr>
                      <a:r>
                        <a:rPr lang="en-US" sz="1050" dirty="0">
                          <a:solidFill>
                            <a:srgbClr val="334155"/>
                          </a:solidFill>
                        </a:rPr>
                        <a:t>Bag</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30%</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R6</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6</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c>
                  <a:txBody>
                    <a:bodyPr/>
                    <a:lstStyle/>
                    <a:p>
                      <a:pPr algn="ctr" indent="0" marL="0">
                        <a:buNone/>
                      </a:pPr>
                      <a:r>
                        <a:rPr lang="en-US" sz="1050" dirty="0">
                          <a:solidFill>
                            <a:srgbClr val="334155"/>
                          </a:solidFill>
                        </a:rPr>
                        <a:t>11</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tcPr>
                </a:tc>
              </a:tr>
              <a:tr h="365760">
                <a:tc>
                  <a:txBody>
                    <a:bodyPr/>
                    <a:lstStyle/>
                    <a:p>
                      <a:pPr algn="ctr" indent="0" marL="0">
                        <a:buNone/>
                      </a:pP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6FAF8"/>
                    </a:solidFill>
                  </a:tcPr>
                </a:tc>
                <a:tc>
                  <a:txBody>
                    <a:bodyPr/>
                    <a:lstStyle/>
                    <a:p>
                      <a:pPr algn="l" indent="0" marL="0">
                        <a:buNone/>
                      </a:pPr>
                      <a:r>
                        <a:rPr lang="en-US" sz="1050" b="1" dirty="0">
                          <a:solidFill>
                            <a:srgbClr val="0B1F3A"/>
                          </a:solidFill>
                        </a:rPr>
                        <a:t>Total</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6FAF8"/>
                    </a:solidFill>
                  </a:tcPr>
                </a:tc>
                <a:tc>
                  <a:txBody>
                    <a:bodyPr/>
                    <a:lstStyle/>
                    <a:p>
                      <a:pPr algn="l" indent="0" marL="0">
                        <a:buNone/>
                      </a:pPr>
                      <a:r>
                        <a:rPr lang="en-US" sz="1050" b="1" dirty="0">
                          <a:solidFill>
                            <a:srgbClr val="0B1F3A"/>
                          </a:solidFill>
                        </a:rPr>
                        <a:t>6/6 correct</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6FAF8"/>
                    </a:solidFill>
                  </a:tcPr>
                </a:tc>
                <a:tc>
                  <a:txBody>
                    <a:bodyPr/>
                    <a:lstStyle/>
                    <a:p>
                      <a:pPr algn="ctr" indent="0" marL="0">
                        <a:buNone/>
                      </a:pP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6FAF8"/>
                    </a:solidFill>
                  </a:tcPr>
                </a:tc>
                <a:tc>
                  <a:txBody>
                    <a:bodyPr/>
                    <a:lstStyle/>
                    <a:p>
                      <a:pPr algn="ctr" indent="0" marL="0">
                        <a:buNone/>
                      </a:pP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6FAF8"/>
                    </a:solidFill>
                  </a:tcPr>
                </a:tc>
                <a:tc>
                  <a:txBody>
                    <a:bodyPr/>
                    <a:lstStyle/>
                    <a:p>
                      <a:pPr algn="ctr" indent="0" marL="0">
                        <a:buNone/>
                      </a:pPr>
                      <a:r>
                        <a:rPr lang="en-US" sz="1050" b="1" dirty="0">
                          <a:solidFill>
                            <a:srgbClr val="0B1F3A"/>
                          </a:solidFill>
                        </a:rPr>
                        <a:t>28</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6FAF8"/>
                    </a:solidFill>
                  </a:tcPr>
                </a:tc>
                <a:tc>
                  <a:txBody>
                    <a:bodyPr/>
                    <a:lstStyle/>
                    <a:p>
                      <a:pPr algn="ctr" indent="0" marL="0">
                        <a:buNone/>
                      </a:pPr>
                      <a:r>
                        <a:rPr lang="en-US" sz="1050" b="1" dirty="0">
                          <a:solidFill>
                            <a:srgbClr val="0B1F3A"/>
                          </a:solidFill>
                        </a:rPr>
                        <a:t>66</a:t>
                      </a:r>
                      <a:endParaRPr lang="en-US" sz="1050" dirty="0"/>
                    </a:p>
                  </a:txBody>
                  <a:tcPr marL="54864" marR="54864" marT="18288" marB="18288"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6FAF8"/>
                    </a:solidFill>
                  </a:tcPr>
                </a:tc>
              </a:tr>
            </a:tbl>
          </a:graphicData>
        </a:graphic>
      </p:graphicFrame>
      <p:sp>
        <p:nvSpPr>
          <p:cNvPr id="16" name="Stat card 1"/>
          <p:cNvSpPr/>
          <p:nvPr/>
        </p:nvSpPr>
        <p:spPr>
          <a:xfrm>
            <a:off x="6309360" y="5349240"/>
            <a:ext cx="1709928" cy="960120"/>
          </a:xfrm>
          <a:prstGeom prst="roundRect">
            <a:avLst>
              <a:gd name="adj" fmla="val 7619"/>
            </a:avLst>
          </a:prstGeom>
          <a:solidFill>
            <a:srgbClr val="FFFFFF"/>
          </a:solidFill>
          <a:ln w="12700">
            <a:solidFill>
              <a:srgbClr val="D8E0E8"/>
            </a:solidFill>
            <a:prstDash val="solid"/>
          </a:ln>
        </p:spPr>
      </p:sp>
      <p:sp>
        <p:nvSpPr>
          <p:cNvPr id="17" name="Text 13"/>
          <p:cNvSpPr txBox="1"/>
          <p:nvPr/>
        </p:nvSpPr>
        <p:spPr>
          <a:xfrm>
            <a:off x="6309360" y="5394960"/>
            <a:ext cx="1709928" cy="457200"/>
          </a:xfrm>
          <a:prstGeom prst="rect">
            <a:avLst/>
          </a:prstGeom>
          <a:noFill/>
          <a:ln/>
        </p:spPr>
        <p:txBody>
          <a:bodyPr wrap="square" lIns="0" tIns="0" rIns="0" bIns="0" rtlCol="0" anchor="ctr"/>
          <a:lstStyle/>
          <a:p>
            <a:pPr algn="ctr" indent="0" marL="0">
              <a:buNone/>
            </a:pPr>
            <a:r>
              <a:rPr lang="en-US" sz="2200" b="1" dirty="0">
                <a:solidFill>
                  <a:srgbClr val="14B8A6"/>
                </a:solidFill>
              </a:rPr>
              <a:t>6/6</a:t>
            </a:r>
            <a:endParaRPr lang="en-US" sz="2200" dirty="0"/>
          </a:p>
        </p:txBody>
      </p:sp>
      <p:sp>
        <p:nvSpPr>
          <p:cNvPr id="18" name="Text 14"/>
          <p:cNvSpPr txBox="1"/>
          <p:nvPr/>
        </p:nvSpPr>
        <p:spPr>
          <a:xfrm>
            <a:off x="6400800" y="5852160"/>
            <a:ext cx="1527048" cy="365760"/>
          </a:xfrm>
          <a:prstGeom prst="rect">
            <a:avLst/>
          </a:prstGeom>
          <a:noFill/>
          <a:ln/>
        </p:spPr>
        <p:txBody>
          <a:bodyPr wrap="square" lIns="0" tIns="0" rIns="0" bIns="0" rtlCol="0" anchor="t"/>
          <a:lstStyle/>
          <a:p>
            <a:pPr algn="ctr" indent="0" marL="0">
              <a:buNone/>
            </a:pPr>
            <a:r>
              <a:rPr lang="en-US" sz="1050" dirty="0">
                <a:solidFill>
                  <a:srgbClr val="334155"/>
                </a:solidFill>
              </a:rPr>
              <a:t>expected location returned</a:t>
            </a:r>
            <a:endParaRPr lang="en-US" sz="1050" dirty="0"/>
          </a:p>
        </p:txBody>
      </p:sp>
      <p:sp>
        <p:nvSpPr>
          <p:cNvPr id="19" name="Stat card 2"/>
          <p:cNvSpPr/>
          <p:nvPr/>
        </p:nvSpPr>
        <p:spPr>
          <a:xfrm>
            <a:off x="8119872" y="5349240"/>
            <a:ext cx="1709928" cy="960120"/>
          </a:xfrm>
          <a:prstGeom prst="roundRect">
            <a:avLst>
              <a:gd name="adj" fmla="val 7619"/>
            </a:avLst>
          </a:prstGeom>
          <a:solidFill>
            <a:srgbClr val="FFFFFF"/>
          </a:solidFill>
          <a:ln w="12700">
            <a:solidFill>
              <a:srgbClr val="D8E0E8"/>
            </a:solidFill>
            <a:prstDash val="solid"/>
          </a:ln>
        </p:spPr>
      </p:sp>
      <p:sp>
        <p:nvSpPr>
          <p:cNvPr id="20" name="Text 16"/>
          <p:cNvSpPr txBox="1"/>
          <p:nvPr/>
        </p:nvSpPr>
        <p:spPr>
          <a:xfrm>
            <a:off x="8119872" y="5394960"/>
            <a:ext cx="1709928" cy="457200"/>
          </a:xfrm>
          <a:prstGeom prst="rect">
            <a:avLst/>
          </a:prstGeom>
          <a:noFill/>
          <a:ln/>
        </p:spPr>
        <p:txBody>
          <a:bodyPr wrap="square" lIns="0" tIns="0" rIns="0" bIns="0" rtlCol="0" anchor="ctr"/>
          <a:lstStyle/>
          <a:p>
            <a:pPr algn="ctr" indent="0" marL="0">
              <a:buNone/>
            </a:pPr>
            <a:r>
              <a:rPr lang="en-US" sz="2200" b="1" dirty="0">
                <a:solidFill>
                  <a:srgbClr val="14B8A6"/>
                </a:solidFill>
              </a:rPr>
              <a:t>58%</a:t>
            </a:r>
            <a:endParaRPr lang="en-US" sz="2200" dirty="0"/>
          </a:p>
        </p:txBody>
      </p:sp>
      <p:sp>
        <p:nvSpPr>
          <p:cNvPr id="21" name="Text 17"/>
          <p:cNvSpPr txBox="1"/>
          <p:nvPr/>
        </p:nvSpPr>
        <p:spPr>
          <a:xfrm>
            <a:off x="8211312" y="5852160"/>
            <a:ext cx="1527048" cy="365760"/>
          </a:xfrm>
          <a:prstGeom prst="rect">
            <a:avLst/>
          </a:prstGeom>
          <a:noFill/>
          <a:ln/>
        </p:spPr>
        <p:txBody>
          <a:bodyPr wrap="square" lIns="0" tIns="0" rIns="0" bIns="0" rtlCol="0" anchor="t"/>
          <a:lstStyle/>
          <a:p>
            <a:pPr algn="ctr" indent="0" marL="0">
              <a:buNone/>
            </a:pPr>
            <a:r>
              <a:rPr lang="en-US" sz="1050" dirty="0">
                <a:solidFill>
                  <a:srgbClr val="334155"/>
                </a:solidFill>
              </a:rPr>
              <a:t>fewer questions asked</a:t>
            </a:r>
            <a:endParaRPr lang="en-US" sz="1050" dirty="0"/>
          </a:p>
        </p:txBody>
      </p:sp>
      <p:sp>
        <p:nvSpPr>
          <p:cNvPr id="22" name="Stat card 3"/>
          <p:cNvSpPr/>
          <p:nvPr/>
        </p:nvSpPr>
        <p:spPr>
          <a:xfrm>
            <a:off x="9930384" y="5349240"/>
            <a:ext cx="1709928" cy="960120"/>
          </a:xfrm>
          <a:prstGeom prst="roundRect">
            <a:avLst>
              <a:gd name="adj" fmla="val 7619"/>
            </a:avLst>
          </a:prstGeom>
          <a:solidFill>
            <a:srgbClr val="FFFFFF"/>
          </a:solidFill>
          <a:ln w="12700">
            <a:solidFill>
              <a:srgbClr val="D8E0E8"/>
            </a:solidFill>
            <a:prstDash val="solid"/>
          </a:ln>
        </p:spPr>
      </p:sp>
      <p:sp>
        <p:nvSpPr>
          <p:cNvPr id="23" name="Text 19"/>
          <p:cNvSpPr txBox="1"/>
          <p:nvPr/>
        </p:nvSpPr>
        <p:spPr>
          <a:xfrm>
            <a:off x="9930384" y="5394960"/>
            <a:ext cx="1709928" cy="457200"/>
          </a:xfrm>
          <a:prstGeom prst="rect">
            <a:avLst/>
          </a:prstGeom>
          <a:noFill/>
          <a:ln/>
        </p:spPr>
        <p:txBody>
          <a:bodyPr wrap="square" lIns="0" tIns="0" rIns="0" bIns="0" rtlCol="0" anchor="ctr"/>
          <a:lstStyle/>
          <a:p>
            <a:pPr algn="ctr" indent="0" marL="0">
              <a:buNone/>
            </a:pPr>
            <a:r>
              <a:rPr lang="en-US" sz="2200" b="1" dirty="0">
                <a:solidFill>
                  <a:srgbClr val="14B8A6"/>
                </a:solidFill>
              </a:rPr>
              <a:t>0.11 ms</a:t>
            </a:r>
            <a:endParaRPr lang="en-US" sz="2200" dirty="0"/>
          </a:p>
        </p:txBody>
      </p:sp>
      <p:sp>
        <p:nvSpPr>
          <p:cNvPr id="24" name="Text 20"/>
          <p:cNvSpPr txBox="1"/>
          <p:nvPr/>
        </p:nvSpPr>
        <p:spPr>
          <a:xfrm>
            <a:off x="10021824" y="5852160"/>
            <a:ext cx="1527048" cy="365760"/>
          </a:xfrm>
          <a:prstGeom prst="rect">
            <a:avLst/>
          </a:prstGeom>
          <a:noFill/>
          <a:ln/>
        </p:spPr>
        <p:txBody>
          <a:bodyPr wrap="square" lIns="0" tIns="0" rIns="0" bIns="0" rtlCol="0" anchor="t"/>
          <a:lstStyle/>
          <a:p>
            <a:pPr algn="ctr" indent="0" marL="0">
              <a:buNone/>
            </a:pPr>
            <a:r>
              <a:rPr lang="en-US" sz="1050" dirty="0">
                <a:solidFill>
                  <a:srgbClr val="334155"/>
                </a:solidFill>
              </a:rPr>
              <a:t>slowest inference</a:t>
            </a:r>
            <a:endParaRPr lang="en-US" sz="105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594360"/>
          </a:xfrm>
          <a:prstGeom prst="rect">
            <a:avLst/>
          </a:prstGeom>
          <a:noFill/>
          <a:ln/>
        </p:spPr>
        <p:txBody>
          <a:bodyPr wrap="square" lIns="0" tIns="0" rIns="0" bIns="0" rtlCol="0" anchor="ctr"/>
          <a:lstStyle/>
          <a:p>
            <a:pPr algn="l" indent="0" marL="0">
              <a:buNone/>
            </a:pPr>
            <a:r>
              <a:rPr lang="en-US" sz="3000" b="1" dirty="0">
                <a:solidFill>
                  <a:srgbClr val="0B1F3A"/>
                </a:solidFill>
              </a:rPr>
              <a:t>Evaluation, Conclusion and Future Work</a:t>
            </a:r>
            <a:endParaRPr lang="en-US" sz="3000" dirty="0"/>
          </a:p>
        </p:txBody>
      </p:sp>
      <p:sp>
        <p:nvSpPr>
          <p:cNvPr id="3" name="Subtitle"/>
          <p:cNvSpPr txBox="1"/>
          <p:nvPr/>
        </p:nvSpPr>
        <p:spPr>
          <a:xfrm>
            <a:off x="548640" y="914400"/>
            <a:ext cx="11064240" cy="365760"/>
          </a:xfrm>
          <a:prstGeom prst="rect">
            <a:avLst/>
          </a:prstGeom>
          <a:noFill/>
          <a:ln/>
        </p:spPr>
        <p:txBody>
          <a:bodyPr wrap="square" lIns="0" tIns="0" rIns="0" bIns="0" rtlCol="0" anchor="ctr"/>
          <a:lstStyle/>
          <a:p>
            <a:pPr indent="0" marL="0">
              <a:buNone/>
            </a:pPr>
            <a:r>
              <a:rPr lang="en-US" sz="1500" dirty="0">
                <a:solidFill>
                  <a:srgbClr val="14B8A6"/>
                </a:solidFill>
              </a:rPr>
              <a:t>Backward chaining asked 28 questions, against 66 for a fixed questionnaire</a:t>
            </a:r>
            <a:endParaRPr lang="en-US" sz="1500" dirty="0"/>
          </a:p>
        </p:txBody>
      </p:sp>
      <p:sp>
        <p:nvSpPr>
          <p:cNvPr id="4" name="Chart card"/>
          <p:cNvSpPr/>
          <p:nvPr/>
        </p:nvSpPr>
        <p:spPr>
          <a:xfrm>
            <a:off x="548640" y="1554480"/>
            <a:ext cx="5760720" cy="3429000"/>
          </a:xfrm>
          <a:prstGeom prst="roundRect">
            <a:avLst>
              <a:gd name="adj" fmla="val 2133"/>
            </a:avLst>
          </a:prstGeom>
          <a:solidFill>
            <a:srgbClr val="FFFFFF"/>
          </a:solidFill>
          <a:ln w="12700">
            <a:solidFill>
              <a:srgbClr val="D8E0E8"/>
            </a:solidFill>
            <a:prstDash val="solid"/>
          </a:ln>
        </p:spPr>
      </p:sp>
      <p:graphicFrame>
        <p:nvGraphicFramePr>
          <p:cNvPr id="5" name="Chart 0" descr=""/>
          <p:cNvGraphicFramePr/>
          <p:nvPr/>
        </p:nvGraphicFramePr>
        <p:xfrm>
          <a:off x="640080" y="1600200"/>
          <a:ext cx="5577840" cy="3337560"/>
        </p:xfrm>
        <a:graphic xmlns:a="http://schemas.openxmlformats.org/drawingml/2006/main">
          <a:graphicData uri="http://schemas.openxmlformats.org/drawingml/2006/chart">
            <c:chart xmlns:c="http://schemas.openxmlformats.org/drawingml/2006/chart" r:id="rId1"/>
          </a:graphicData>
        </a:graphic>
      </p:graphicFrame>
      <p:sp>
        <p:nvSpPr>
          <p:cNvPr id="6" name="Chart caption"/>
          <p:cNvSpPr txBox="1"/>
          <p:nvPr/>
        </p:nvSpPr>
        <p:spPr>
          <a:xfrm>
            <a:off x="548640" y="5074920"/>
            <a:ext cx="5760720" cy="685800"/>
          </a:xfrm>
          <a:prstGeom prst="rect">
            <a:avLst/>
          </a:prstGeom>
          <a:noFill/>
          <a:ln/>
        </p:spPr>
        <p:txBody>
          <a:bodyPr wrap="square" lIns="0" tIns="0" rIns="0" bIns="0" rtlCol="0" anchor="t"/>
          <a:lstStyle/>
          <a:p>
            <a:pPr indent="0" marL="0">
              <a:buNone/>
            </a:pPr>
            <a:r>
              <a:rPr lang="en-US" sz="1200" b="1" dirty="0">
                <a:solidFill>
                  <a:srgbClr val="0B1F3A"/>
                </a:solidFill>
              </a:rPr>
              <a:t>28 vs 66 questions in total. </a:t>
            </a:r>
            <a:pPr indent="0" marL="0">
              <a:buNone/>
            </a:pPr>
            <a:r>
              <a:rPr lang="en-US" sz="1200" dirty="0">
                <a:solidFill>
                  <a:srgbClr val="334155"/>
                </a:solidFill>
              </a:rPr>
              <a:t>The saving is largest when the strongest rule succeeds early (S3: 2 vs 11). Every inference finished in under 1 ms.</a:t>
            </a:r>
            <a:endParaRPr lang="en-US" sz="1200" dirty="0"/>
          </a:p>
        </p:txBody>
      </p:sp>
      <p:sp>
        <p:nvSpPr>
          <p:cNvPr id="7" name="Conclusion card"/>
          <p:cNvSpPr/>
          <p:nvPr/>
        </p:nvSpPr>
        <p:spPr>
          <a:xfrm>
            <a:off x="6583680" y="1554480"/>
            <a:ext cx="5056632" cy="2834640"/>
          </a:xfrm>
          <a:prstGeom prst="roundRect">
            <a:avLst>
              <a:gd name="adj" fmla="val 2581"/>
            </a:avLst>
          </a:prstGeom>
          <a:solidFill>
            <a:srgbClr val="FFFFFF"/>
          </a:solidFill>
          <a:ln w="12700">
            <a:solidFill>
              <a:srgbClr val="D8E0E8"/>
            </a:solidFill>
            <a:prstDash val="solid"/>
          </a:ln>
        </p:spPr>
      </p:sp>
      <p:sp>
        <p:nvSpPr>
          <p:cNvPr id="8" name="Text 5"/>
          <p:cNvSpPr txBox="1"/>
          <p:nvPr/>
        </p:nvSpPr>
        <p:spPr>
          <a:xfrm>
            <a:off x="6812280" y="1664208"/>
            <a:ext cx="4572000" cy="365760"/>
          </a:xfrm>
          <a:prstGeom prst="rect">
            <a:avLst/>
          </a:prstGeom>
          <a:noFill/>
          <a:ln/>
        </p:spPr>
        <p:txBody>
          <a:bodyPr wrap="square" lIns="0" tIns="0" rIns="0" bIns="0" rtlCol="0" anchor="ctr"/>
          <a:lstStyle/>
          <a:p>
            <a:pPr indent="0" marL="0">
              <a:buNone/>
            </a:pPr>
            <a:r>
              <a:rPr lang="en-US" sz="1800" b="1" dirty="0">
                <a:solidFill>
                  <a:srgbClr val="0B1F3A"/>
                </a:solidFill>
              </a:rPr>
              <a:t>Conclusion</a:t>
            </a:r>
            <a:endParaRPr lang="en-US" sz="1800" dirty="0"/>
          </a:p>
        </p:txBody>
      </p:sp>
      <p:sp>
        <p:nvSpPr>
          <p:cNvPr id="9" name="Conclusion bullets"/>
          <p:cNvSpPr txBox="1"/>
          <p:nvPr/>
        </p:nvSpPr>
        <p:spPr>
          <a:xfrm>
            <a:off x="6812280" y="2103120"/>
            <a:ext cx="4663440" cy="219456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334155"/>
                </a:solidFill>
              </a:rPr>
              <a:t>Facts and IF–THEN rules with certainty factors drive the search</a:t>
            </a:r>
            <a:endParaRPr lang="en-US" sz="1200" dirty="0"/>
          </a:p>
          <a:p>
            <a:pPr marL="152400" indent="-152400">
              <a:spcAft>
                <a:spcPts val="600"/>
              </a:spcAft>
              <a:buSzPct val="100000"/>
              <a:buChar char="•"/>
            </a:pPr>
            <a:r>
              <a:rPr lang="en-US" sz="1200" dirty="0">
                <a:solidFill>
                  <a:srgbClr val="334155"/>
                </a:solidFill>
              </a:rPr>
              <a:t>Backward chaining with unification asks only what is needed</a:t>
            </a:r>
            <a:endParaRPr lang="en-US" sz="1200" dirty="0"/>
          </a:p>
          <a:p>
            <a:pPr marL="152400" indent="-152400">
              <a:spcAft>
                <a:spcPts val="600"/>
              </a:spcAft>
              <a:buSzPct val="100000"/>
              <a:buChar char="•"/>
            </a:pPr>
            <a:r>
              <a:rPr lang="en-US" sz="1200" dirty="0">
                <a:solidFill>
                  <a:srgbClr val="334155"/>
                </a:solidFill>
              </a:rPr>
              <a:t>Expected location returned in all 6 scenarios, using every rule</a:t>
            </a:r>
            <a:endParaRPr lang="en-US" sz="1200" dirty="0"/>
          </a:p>
          <a:p>
            <a:pPr marL="152400" indent="-152400">
              <a:spcAft>
                <a:spcPts val="600"/>
              </a:spcAft>
              <a:buSzPct val="100000"/>
              <a:buChar char="•"/>
            </a:pPr>
            <a:r>
              <a:rPr lang="en-US" sz="1200" dirty="0">
                <a:solidFill>
                  <a:srgbClr val="334155"/>
                </a:solidFill>
              </a:rPr>
              <a:t>Each conclusion comes with a full reasoning trace</a:t>
            </a:r>
            <a:endParaRPr lang="en-US" sz="1200" dirty="0"/>
          </a:p>
          <a:p>
            <a:pPr marL="152400" indent="-152400">
              <a:spcAft>
                <a:spcPts val="600"/>
              </a:spcAft>
              <a:buSzPct val="100000"/>
              <a:buChar char="•"/>
            </a:pPr>
            <a:r>
              <a:rPr lang="en-US" sz="1200" dirty="0">
                <a:solidFill>
                  <a:srgbClr val="334155"/>
                </a:solidFill>
              </a:rPr>
              <a:t>Limits: scripted answers, uncalibrated CFs, small knowledge base</a:t>
            </a:r>
            <a:endParaRPr lang="en-US" sz="1200" dirty="0"/>
          </a:p>
        </p:txBody>
      </p:sp>
      <p:sp>
        <p:nvSpPr>
          <p:cNvPr id="10" name="Future work box"/>
          <p:cNvSpPr/>
          <p:nvPr/>
        </p:nvSpPr>
        <p:spPr>
          <a:xfrm>
            <a:off x="6583680" y="4572000"/>
            <a:ext cx="5056632" cy="1188720"/>
          </a:xfrm>
          <a:prstGeom prst="roundRect">
            <a:avLst>
              <a:gd name="adj" fmla="val 6154"/>
            </a:avLst>
          </a:prstGeom>
          <a:solidFill>
            <a:srgbClr val="E6FAF8"/>
          </a:solidFill>
          <a:ln w="12700">
            <a:solidFill>
              <a:srgbClr val="14B8A6"/>
            </a:solidFill>
            <a:prstDash val="solid"/>
          </a:ln>
        </p:spPr>
      </p:sp>
      <p:sp>
        <p:nvSpPr>
          <p:cNvPr id="11" name="Text 8"/>
          <p:cNvSpPr txBox="1"/>
          <p:nvPr/>
        </p:nvSpPr>
        <p:spPr>
          <a:xfrm>
            <a:off x="6812280" y="4645152"/>
            <a:ext cx="4572000" cy="274320"/>
          </a:xfrm>
          <a:prstGeom prst="rect">
            <a:avLst/>
          </a:prstGeom>
          <a:noFill/>
          <a:ln/>
        </p:spPr>
        <p:txBody>
          <a:bodyPr wrap="square" lIns="0" tIns="0" rIns="0" bIns="0" rtlCol="0" anchor="ctr"/>
          <a:lstStyle/>
          <a:p>
            <a:pPr indent="0" marL="0">
              <a:buNone/>
            </a:pPr>
            <a:r>
              <a:rPr lang="en-US" sz="1100" b="1" spc="100" kern="0" dirty="0">
                <a:solidFill>
                  <a:srgbClr val="14B8A6"/>
                </a:solidFill>
              </a:rPr>
              <a:t>FUTURE WORK (not implemented)</a:t>
            </a:r>
            <a:endParaRPr lang="en-US" sz="1100" dirty="0"/>
          </a:p>
        </p:txBody>
      </p:sp>
      <p:sp>
        <p:nvSpPr>
          <p:cNvPr id="12" name="Text 9"/>
          <p:cNvSpPr txBox="1"/>
          <p:nvPr/>
        </p:nvSpPr>
        <p:spPr>
          <a:xfrm>
            <a:off x="6812280" y="4937760"/>
            <a:ext cx="4663440" cy="777240"/>
          </a:xfrm>
          <a:prstGeom prst="rect">
            <a:avLst/>
          </a:prstGeom>
          <a:noFill/>
          <a:ln/>
        </p:spPr>
        <p:txBody>
          <a:bodyPr wrap="square" lIns="0" tIns="0" rIns="0" bIns="0" rtlCol="0" anchor="t"/>
          <a:lstStyle/>
          <a:p>
            <a:pPr indent="0" marL="0">
              <a:buNone/>
            </a:pPr>
            <a:r>
              <a:rPr lang="en-US" sz="1100" dirty="0">
                <a:solidFill>
                  <a:srgbClr val="0B1F3A"/>
                </a:solidFill>
              </a:rPr>
              <a:t>User study on real cases  ·  Combining CFs from several rules  ·  Learning CFs from found items  ·  Time-based reasoning  ·  Voice or mobile interface  ·  Bluetooth data as facts</a:t>
            </a:r>
            <a:endParaRPr lang="en-US" sz="1100" dirty="0"/>
          </a:p>
        </p:txBody>
      </p:sp>
      <p:sp>
        <p:nvSpPr>
          <p:cNvPr id="13" name="Thank you bar"/>
          <p:cNvSpPr/>
          <p:nvPr/>
        </p:nvSpPr>
        <p:spPr>
          <a:xfrm>
            <a:off x="548640" y="5897880"/>
            <a:ext cx="11091672" cy="502920"/>
          </a:xfrm>
          <a:prstGeom prst="roundRect">
            <a:avLst>
              <a:gd name="adj" fmla="val 10909"/>
            </a:avLst>
          </a:prstGeom>
          <a:solidFill>
            <a:srgbClr val="0B1F3A"/>
          </a:solidFill>
          <a:ln w="12700">
            <a:solidFill>
              <a:srgbClr val="0B1F3A"/>
            </a:solidFill>
            <a:prstDash val="solid"/>
          </a:ln>
        </p:spPr>
      </p:sp>
      <p:sp>
        <p:nvSpPr>
          <p:cNvPr id="14" name="Text 11"/>
          <p:cNvSpPr txBox="1"/>
          <p:nvPr/>
        </p:nvSpPr>
        <p:spPr>
          <a:xfrm>
            <a:off x="777240" y="5897880"/>
            <a:ext cx="3657600" cy="502920"/>
          </a:xfrm>
          <a:prstGeom prst="rect">
            <a:avLst/>
          </a:prstGeom>
          <a:noFill/>
          <a:ln/>
        </p:spPr>
        <p:txBody>
          <a:bodyPr wrap="square" lIns="0" tIns="0" rIns="0" bIns="0" rtlCol="0" anchor="ctr"/>
          <a:lstStyle/>
          <a:p>
            <a:pPr indent="0" marL="0">
              <a:buNone/>
            </a:pPr>
            <a:r>
              <a:rPr lang="en-US" sz="1400" b="1" dirty="0">
                <a:solidFill>
                  <a:srgbClr val="FFFFFF"/>
                </a:solidFill>
              </a:rPr>
              <a:t>THANK YOU</a:t>
            </a:r>
            <a:endParaRPr lang="en-US" sz="1400" dirty="0"/>
          </a:p>
        </p:txBody>
      </p:sp>
      <p:sp>
        <p:nvSpPr>
          <p:cNvPr id="15" name="Text 12"/>
          <p:cNvSpPr txBox="1"/>
          <p:nvPr/>
        </p:nvSpPr>
        <p:spPr>
          <a:xfrm>
            <a:off x="6858000" y="5897880"/>
            <a:ext cx="4572000" cy="502920"/>
          </a:xfrm>
          <a:prstGeom prst="rect">
            <a:avLst/>
          </a:prstGeom>
          <a:noFill/>
          <a:ln/>
        </p:spPr>
        <p:txBody>
          <a:bodyPr wrap="square" lIns="0" tIns="0" rIns="0" bIns="0" rtlCol="0" anchor="ctr"/>
          <a:lstStyle/>
          <a:p>
            <a:pPr algn="r" indent="0" marL="0">
              <a:buNone/>
            </a:pPr>
            <a:r>
              <a:rPr lang="en-US" sz="1400" b="1" dirty="0">
                <a:solidFill>
                  <a:srgbClr val="22D3EE"/>
                </a:solidFill>
              </a:rPr>
              <a:t>Questions and Discussion</a:t>
            </a:r>
            <a:endParaRPr lang="en-US" sz="14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AI Lost Item Finder">
  <a:themeElements>
    <a:clrScheme name="AI Lost Item Finder">
      <a:dk1>
        <a:srgbClr val="0B1F3A"/>
      </a:dk1>
      <a:lt1>
        <a:srgbClr val="FFFFFF"/>
      </a:lt1>
      <a:dk2>
        <a:srgbClr val="112B4D"/>
      </a:dk2>
      <a:lt2>
        <a:srgbClr val="F1F5F9"/>
      </a:lt2>
      <a:accent1>
        <a:srgbClr val="14B8A6"/>
      </a:accent1>
      <a:accent2>
        <a:srgbClr val="22D3EE"/>
      </a:accent2>
      <a:accent3>
        <a:srgbClr val="3B82F6"/>
      </a:accent3>
      <a:accent4>
        <a:srgbClr val="22C55E"/>
      </a:accent4>
      <a:accent5>
        <a:srgbClr val="EAB308"/>
      </a:accent5>
      <a:accent6>
        <a:srgbClr val="EF4444"/>
      </a:accent6>
      <a:hlink>
        <a:srgbClr val="22D3EE"/>
      </a:hlink>
      <a:folHlink>
        <a:srgbClr val="14B8A6"/>
      </a:folHlink>
    </a:clrScheme>
    <a:fontScheme name="AI Lost Item Finder">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Lost Item Finder</dc:title>
  <dc:subject>PptxGenJS Presentation</dc:subject>
  <dc:creator>G S Pranav, M Sengathir</dc:creator>
  <cp:lastModifiedBy>G S Pranav, M Sengathir</cp:lastModifiedBy>
  <cp:revision>1</cp:revision>
  <dcterms:created xsi:type="dcterms:W3CDTF">2026-10-29T12:53:34Z</dcterms:created>
  <dcterms:modified xsi:type="dcterms:W3CDTF">2026-10-29T12:53:34Z</dcterms:modified>
</cp:coreProperties>
</file>